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8"/>
  </p:notesMasterIdLst>
  <p:sldIdLst>
    <p:sldId id="256" r:id="rId3"/>
    <p:sldId id="257" r:id="rId4"/>
    <p:sldId id="258" r:id="rId5"/>
    <p:sldId id="271" r:id="rId6"/>
    <p:sldId id="259" r:id="rId7"/>
    <p:sldId id="280" r:id="rId8"/>
    <p:sldId id="281" r:id="rId9"/>
    <p:sldId id="272" r:id="rId10"/>
    <p:sldId id="275" r:id="rId11"/>
    <p:sldId id="286" r:id="rId12"/>
    <p:sldId id="276" r:id="rId13"/>
    <p:sldId id="284" r:id="rId14"/>
    <p:sldId id="282" r:id="rId15"/>
    <p:sldId id="269" r:id="rId16"/>
    <p:sldId id="283" r:id="rId17"/>
  </p:sldIdLst>
  <p:sldSz cx="9144000" cy="5143500" type="screen16x9"/>
  <p:notesSz cx="6858000" cy="9144000"/>
  <p:embeddedFontLst>
    <p:embeddedFont>
      <p:font typeface="Algerian" panose="04020705040A02060702" pitchFamily="82" charset="0"/>
      <p:regular r:id="rId19"/>
    </p:embeddedFont>
    <p:embeddedFont>
      <p:font typeface="Lato" panose="020F0502020204030203" pitchFamily="34" charset="0"/>
      <p:regular r:id="rId20"/>
      <p:bold r:id="rId21"/>
      <p:italic r:id="rId22"/>
      <p:boldItalic r:id="rId23"/>
    </p:embeddedFont>
    <p:embeddedFont>
      <p:font typeface="Poppins" panose="000005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03107B39-4AB2-427D-856B-244EFA98C685}">
          <p14:sldIdLst>
            <p14:sldId id="256"/>
          </p14:sldIdLst>
        </p14:section>
        <p14:section name="Team Deatils" id="{1C62457F-8F4F-45C9-9909-16585730A6F5}">
          <p14:sldIdLst>
            <p14:sldId id="257"/>
          </p14:sldIdLst>
        </p14:section>
        <p14:section name="Problem Statement" id="{55DECAB1-1136-4389-AB1F-4CE5DD5CE866}">
          <p14:sldIdLst>
            <p14:sldId id="258"/>
          </p14:sldIdLst>
        </p14:section>
        <p14:section name="Who" id="{FDA73AE0-A9E5-4D25-BC36-CDCB1655EA5C}">
          <p14:sldIdLst>
            <p14:sldId id="271"/>
          </p14:sldIdLst>
        </p14:section>
        <p14:section name="Solution details" id="{41A91108-86C4-4DE7-AADB-92003508DB40}">
          <p14:sldIdLst>
            <p14:sldId id="259"/>
            <p14:sldId id="280"/>
          </p14:sldIdLst>
        </p14:section>
        <p14:section name="Technical Solution" id="{2C2C437B-98D3-4F3D-A889-826FF48605CB}">
          <p14:sldIdLst>
            <p14:sldId id="281"/>
            <p14:sldId id="272"/>
            <p14:sldId id="275"/>
            <p14:sldId id="286"/>
          </p14:sldIdLst>
        </p14:section>
        <p14:section name="Solution Demo" id="{4AABBCB7-1E90-450B-A573-AAE6E2AE2FBB}">
          <p14:sldIdLst>
            <p14:sldId id="276"/>
            <p14:sldId id="284"/>
            <p14:sldId id="282"/>
            <p14:sldId id="269"/>
          </p14:sldIdLst>
        </p14:section>
        <p14:section name="Appendix" id="{C666DA8D-1218-4771-A347-31E69FE662F0}">
          <p14:sldIdLst>
            <p14:sldId id="283"/>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4BA1"/>
    <a:srgbClr val="6AC0F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p:cViewPr varScale="1">
        <p:scale>
          <a:sx n="99" d="100"/>
          <a:sy n="99" d="100"/>
        </p:scale>
        <p:origin x="1061" y="82"/>
      </p:cViewPr>
      <p:guideLst>
        <p:guide orient="horz" pos="1620"/>
        <p:guide pos="2880"/>
      </p:guideLst>
    </p:cSldViewPr>
  </p:slideViewPr>
  <p:notesTextViewPr>
    <p:cViewPr>
      <p:scale>
        <a:sx n="1" d="1"/>
        <a:sy n="1" d="1"/>
      </p:scale>
      <p:origin x="0" y="0"/>
    </p:cViewPr>
  </p:notesTextViewPr>
  <p:sorterViewPr>
    <p:cViewPr>
      <p:scale>
        <a:sx n="100" d="100"/>
        <a:sy n="100" d="100"/>
      </p:scale>
      <p:origin x="0" y="-573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1.xml"/><Relationship Id="rId21" Type="http://schemas.openxmlformats.org/officeDocument/2006/relationships/font" Target="fonts/font3.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7.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6.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1.fntdata"/><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bbe62cbf5c_2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g3bbe62cbf5c_2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bbe62cbf5c_2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3bbe62cbf5c_2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bbe62cbf5c_2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g3bbe62cbf5c_2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a:extLst>
            <a:ext uri="{FF2B5EF4-FFF2-40B4-BE49-F238E27FC236}">
              <a16:creationId xmlns:a16="http://schemas.microsoft.com/office/drawing/2014/main" id="{32720F1B-3459-DB14-FB0B-75E9228AEA64}"/>
            </a:ext>
          </a:extLst>
        </p:cNvPr>
        <p:cNvGrpSpPr/>
        <p:nvPr/>
      </p:nvGrpSpPr>
      <p:grpSpPr>
        <a:xfrm>
          <a:off x="0" y="0"/>
          <a:ext cx="0" cy="0"/>
          <a:chOff x="0" y="0"/>
          <a:chExt cx="0" cy="0"/>
        </a:xfrm>
      </p:grpSpPr>
      <p:sp>
        <p:nvSpPr>
          <p:cNvPr id="196" name="Google Shape;196;g3bbe62cbf5c_2_136:notes">
            <a:extLst>
              <a:ext uri="{FF2B5EF4-FFF2-40B4-BE49-F238E27FC236}">
                <a16:creationId xmlns:a16="http://schemas.microsoft.com/office/drawing/2014/main" id="{D378DD8A-EA40-92D0-8DAF-BAB78C7E9D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g3bbe62cbf5c_2_136:notes">
            <a:extLst>
              <a:ext uri="{FF2B5EF4-FFF2-40B4-BE49-F238E27FC236}">
                <a16:creationId xmlns:a16="http://schemas.microsoft.com/office/drawing/2014/main" id="{F90B5590-20CB-8C19-9B8B-C0732EAFF3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626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bbe62cbf5c_2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3bbe62cbf5c_2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3AC4A900-C66F-1EF3-A11D-745D4C13049D}"/>
            </a:ext>
          </a:extLst>
        </p:cNvPr>
        <p:cNvGrpSpPr/>
        <p:nvPr/>
      </p:nvGrpSpPr>
      <p:grpSpPr>
        <a:xfrm>
          <a:off x="0" y="0"/>
          <a:ext cx="0" cy="0"/>
          <a:chOff x="0" y="0"/>
          <a:chExt cx="0" cy="0"/>
        </a:xfrm>
      </p:grpSpPr>
      <p:sp>
        <p:nvSpPr>
          <p:cNvPr id="316" name="Google Shape;316;g3bbe62cbf5c_2_247:notes">
            <a:extLst>
              <a:ext uri="{FF2B5EF4-FFF2-40B4-BE49-F238E27FC236}">
                <a16:creationId xmlns:a16="http://schemas.microsoft.com/office/drawing/2014/main" id="{2B971563-E324-BF23-4FBF-90188EF4E0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g3bbe62cbf5c_2_247:notes">
            <a:extLst>
              <a:ext uri="{FF2B5EF4-FFF2-40B4-BE49-F238E27FC236}">
                <a16:creationId xmlns:a16="http://schemas.microsoft.com/office/drawing/2014/main" id="{0BAB6C08-FB6F-6E45-2912-43264F3E45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1207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66598E84-79D8-BCD6-82A7-7DC232C9598F}"/>
            </a:ext>
          </a:extLst>
        </p:cNvPr>
        <p:cNvGrpSpPr/>
        <p:nvPr/>
      </p:nvGrpSpPr>
      <p:grpSpPr>
        <a:xfrm>
          <a:off x="0" y="0"/>
          <a:ext cx="0" cy="0"/>
          <a:chOff x="0" y="0"/>
          <a:chExt cx="0" cy="0"/>
        </a:xfrm>
      </p:grpSpPr>
      <p:sp>
        <p:nvSpPr>
          <p:cNvPr id="316" name="Google Shape;316;g3bbe62cbf5c_2_247:notes">
            <a:extLst>
              <a:ext uri="{FF2B5EF4-FFF2-40B4-BE49-F238E27FC236}">
                <a16:creationId xmlns:a16="http://schemas.microsoft.com/office/drawing/2014/main" id="{FD84B56D-BD50-6A6D-22CA-B655959A0B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g3bbe62cbf5c_2_247:notes">
            <a:extLst>
              <a:ext uri="{FF2B5EF4-FFF2-40B4-BE49-F238E27FC236}">
                <a16:creationId xmlns:a16="http://schemas.microsoft.com/office/drawing/2014/main" id="{3D63BC70-B5D0-6F8E-3882-512C84AAF1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4865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0F056AC8-F7CB-EE02-7900-330761269714}"/>
            </a:ext>
          </a:extLst>
        </p:cNvPr>
        <p:cNvGrpSpPr/>
        <p:nvPr/>
      </p:nvGrpSpPr>
      <p:grpSpPr>
        <a:xfrm>
          <a:off x="0" y="0"/>
          <a:ext cx="0" cy="0"/>
          <a:chOff x="0" y="0"/>
          <a:chExt cx="0" cy="0"/>
        </a:xfrm>
      </p:grpSpPr>
      <p:sp>
        <p:nvSpPr>
          <p:cNvPr id="316" name="Google Shape;316;g3bbe62cbf5c_2_247:notes">
            <a:extLst>
              <a:ext uri="{FF2B5EF4-FFF2-40B4-BE49-F238E27FC236}">
                <a16:creationId xmlns:a16="http://schemas.microsoft.com/office/drawing/2014/main" id="{9C5CD33F-1A34-7D98-B530-9E709F34F5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g3bbe62cbf5c_2_247:notes">
            <a:extLst>
              <a:ext uri="{FF2B5EF4-FFF2-40B4-BE49-F238E27FC236}">
                <a16:creationId xmlns:a16="http://schemas.microsoft.com/office/drawing/2014/main" id="{289A1A01-5935-EF3E-BD69-D9A48A713F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9329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B4AABF28-681D-8746-AC34-20E8D73FBBAA}"/>
            </a:ext>
          </a:extLst>
        </p:cNvPr>
        <p:cNvGrpSpPr/>
        <p:nvPr/>
      </p:nvGrpSpPr>
      <p:grpSpPr>
        <a:xfrm>
          <a:off x="0" y="0"/>
          <a:ext cx="0" cy="0"/>
          <a:chOff x="0" y="0"/>
          <a:chExt cx="0" cy="0"/>
        </a:xfrm>
      </p:grpSpPr>
      <p:sp>
        <p:nvSpPr>
          <p:cNvPr id="316" name="Google Shape;316;g3bbe62cbf5c_2_247:notes">
            <a:extLst>
              <a:ext uri="{FF2B5EF4-FFF2-40B4-BE49-F238E27FC236}">
                <a16:creationId xmlns:a16="http://schemas.microsoft.com/office/drawing/2014/main" id="{51FA70CA-A1A0-C5A9-3885-9C4820BE34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g3bbe62cbf5c_2_247:notes">
            <a:extLst>
              <a:ext uri="{FF2B5EF4-FFF2-40B4-BE49-F238E27FC236}">
                <a16:creationId xmlns:a16="http://schemas.microsoft.com/office/drawing/2014/main" id="{60685451-8DBB-9DDD-1869-BAB2F13C28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99172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E27F7039-9653-2059-2384-6F01FC024D7A}"/>
            </a:ext>
          </a:extLst>
        </p:cNvPr>
        <p:cNvGrpSpPr/>
        <p:nvPr/>
      </p:nvGrpSpPr>
      <p:grpSpPr>
        <a:xfrm>
          <a:off x="0" y="0"/>
          <a:ext cx="0" cy="0"/>
          <a:chOff x="0" y="0"/>
          <a:chExt cx="0" cy="0"/>
        </a:xfrm>
      </p:grpSpPr>
      <p:sp>
        <p:nvSpPr>
          <p:cNvPr id="316" name="Google Shape;316;g3bbe62cbf5c_2_247:notes">
            <a:extLst>
              <a:ext uri="{FF2B5EF4-FFF2-40B4-BE49-F238E27FC236}">
                <a16:creationId xmlns:a16="http://schemas.microsoft.com/office/drawing/2014/main" id="{E13C0188-A762-7F11-62B2-1F0F0B9236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g3bbe62cbf5c_2_247:notes">
            <a:extLst>
              <a:ext uri="{FF2B5EF4-FFF2-40B4-BE49-F238E27FC236}">
                <a16:creationId xmlns:a16="http://schemas.microsoft.com/office/drawing/2014/main" id="{B256FBCB-2155-0384-DD5E-048ADABC1F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0841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348DBE33-1425-8FD1-3F2E-2D119C69B309}"/>
            </a:ext>
          </a:extLst>
        </p:cNvPr>
        <p:cNvGrpSpPr/>
        <p:nvPr/>
      </p:nvGrpSpPr>
      <p:grpSpPr>
        <a:xfrm>
          <a:off x="0" y="0"/>
          <a:ext cx="0" cy="0"/>
          <a:chOff x="0" y="0"/>
          <a:chExt cx="0" cy="0"/>
        </a:xfrm>
      </p:grpSpPr>
      <p:sp>
        <p:nvSpPr>
          <p:cNvPr id="316" name="Google Shape;316;g3bbe62cbf5c_2_247:notes">
            <a:extLst>
              <a:ext uri="{FF2B5EF4-FFF2-40B4-BE49-F238E27FC236}">
                <a16:creationId xmlns:a16="http://schemas.microsoft.com/office/drawing/2014/main" id="{1E531906-8B0D-CED3-837B-CC13A63F7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g3bbe62cbf5c_2_247:notes">
            <a:extLst>
              <a:ext uri="{FF2B5EF4-FFF2-40B4-BE49-F238E27FC236}">
                <a16:creationId xmlns:a16="http://schemas.microsoft.com/office/drawing/2014/main" id="{C5AC105F-E4EE-446E-A774-986E05C8C8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8389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94E88682-5E09-7C50-954F-3DAF26810B80}"/>
            </a:ext>
          </a:extLst>
        </p:cNvPr>
        <p:cNvGrpSpPr/>
        <p:nvPr/>
      </p:nvGrpSpPr>
      <p:grpSpPr>
        <a:xfrm>
          <a:off x="0" y="0"/>
          <a:ext cx="0" cy="0"/>
          <a:chOff x="0" y="0"/>
          <a:chExt cx="0" cy="0"/>
        </a:xfrm>
      </p:grpSpPr>
      <p:sp>
        <p:nvSpPr>
          <p:cNvPr id="316" name="Google Shape;316;g3bbe62cbf5c_2_247:notes">
            <a:extLst>
              <a:ext uri="{FF2B5EF4-FFF2-40B4-BE49-F238E27FC236}">
                <a16:creationId xmlns:a16="http://schemas.microsoft.com/office/drawing/2014/main" id="{ADE082D4-46A0-0087-110E-71635F460E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g3bbe62cbf5c_2_247:notes">
            <a:extLst>
              <a:ext uri="{FF2B5EF4-FFF2-40B4-BE49-F238E27FC236}">
                <a16:creationId xmlns:a16="http://schemas.microsoft.com/office/drawing/2014/main" id="{8FDA40E1-6857-B337-EC6D-4123AADB9E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3046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82B234AC-E7C2-F6E7-82DF-F0C9F6B0E97F}"/>
            </a:ext>
          </a:extLst>
        </p:cNvPr>
        <p:cNvGrpSpPr/>
        <p:nvPr/>
      </p:nvGrpSpPr>
      <p:grpSpPr>
        <a:xfrm>
          <a:off x="0" y="0"/>
          <a:ext cx="0" cy="0"/>
          <a:chOff x="0" y="0"/>
          <a:chExt cx="0" cy="0"/>
        </a:xfrm>
      </p:grpSpPr>
      <p:sp>
        <p:nvSpPr>
          <p:cNvPr id="316" name="Google Shape;316;g3bbe62cbf5c_2_247:notes">
            <a:extLst>
              <a:ext uri="{FF2B5EF4-FFF2-40B4-BE49-F238E27FC236}">
                <a16:creationId xmlns:a16="http://schemas.microsoft.com/office/drawing/2014/main" id="{8349068B-5F8B-DA8E-5FD7-0E21E19DA3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g3bbe62cbf5c_2_247:notes">
            <a:extLst>
              <a:ext uri="{FF2B5EF4-FFF2-40B4-BE49-F238E27FC236}">
                <a16:creationId xmlns:a16="http://schemas.microsoft.com/office/drawing/2014/main" id="{7C9FD971-638A-5607-7D93-F50962EC63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5411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bbe62cbf5c_2_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1" name="Google Shape;421;g3bbe62cbf5c_2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0608C5D1-62E0-E4D2-DAF9-7EEE2F63DCDC}"/>
            </a:ext>
          </a:extLst>
        </p:cNvPr>
        <p:cNvGrpSpPr/>
        <p:nvPr/>
      </p:nvGrpSpPr>
      <p:grpSpPr>
        <a:xfrm>
          <a:off x="0" y="0"/>
          <a:ext cx="0" cy="0"/>
          <a:chOff x="0" y="0"/>
          <a:chExt cx="0" cy="0"/>
        </a:xfrm>
      </p:grpSpPr>
      <p:sp>
        <p:nvSpPr>
          <p:cNvPr id="316" name="Google Shape;316;g3bbe62cbf5c_2_247:notes">
            <a:extLst>
              <a:ext uri="{FF2B5EF4-FFF2-40B4-BE49-F238E27FC236}">
                <a16:creationId xmlns:a16="http://schemas.microsoft.com/office/drawing/2014/main" id="{6CDC2E4C-A454-FBA7-4E6A-F92E1A171A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g3bbe62cbf5c_2_247:notes">
            <a:extLst>
              <a:ext uri="{FF2B5EF4-FFF2-40B4-BE49-F238E27FC236}">
                <a16:creationId xmlns:a16="http://schemas.microsoft.com/office/drawing/2014/main" id="{E0A381FB-E7F7-8CD3-9AA3-8606D6AEF9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47746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8" name="Google Shape;58;p14"/>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p14"/>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60" name="Google Shape;60;p14" title="Witch Hunt finalized logo-modified.png"/>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129475" y="110949"/>
            <a:ext cx="1009950" cy="1009950"/>
          </a:xfrm>
          <a:prstGeom prst="rect">
            <a:avLst/>
          </a:prstGeom>
          <a:noFill/>
          <a:ln>
            <a:noFill/>
          </a:ln>
        </p:spPr>
      </p:pic>
      <p:pic>
        <p:nvPicPr>
          <p:cNvPr id="61" name="Google Shape;61;p14" title="AI4India Logo.jpg"/>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8065624" y="267450"/>
            <a:ext cx="941724" cy="367825"/>
          </a:xfrm>
          <a:prstGeom prst="rect">
            <a:avLst/>
          </a:prstGeom>
          <a:noFill/>
          <a:ln>
            <a:noFill/>
          </a:ln>
        </p:spPr>
      </p:pic>
      <p:pic>
        <p:nvPicPr>
          <p:cNvPr id="62" name="Google Shape;62;p14" title="hopeworks logo.png"/>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7555296" y="203475"/>
            <a:ext cx="432575" cy="4318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1" name="Google Shape;71;p16"/>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72" name="Google Shape;72;p16"/>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3" name="Google Shape;73;p16"/>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4" name="Google Shape;74;p16"/>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361156" y="2203450"/>
            <a:ext cx="3886200" cy="681038"/>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7" name="Google Shape;77;p17"/>
          <p:cNvSpPr txBox="1">
            <a:spLocks noGrp="1"/>
          </p:cNvSpPr>
          <p:nvPr>
            <p:ph type="body" idx="1"/>
          </p:nvPr>
        </p:nvSpPr>
        <p:spPr>
          <a:xfrm>
            <a:off x="361156" y="1453357"/>
            <a:ext cx="3886200" cy="750094"/>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78" name="Google Shape;78;p17"/>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9" name="Google Shape;79;p17"/>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0" name="Google Shape;80;p17"/>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3" name="Google Shape;83;p18"/>
          <p:cNvSpPr txBox="1">
            <a:spLocks noGrp="1"/>
          </p:cNvSpPr>
          <p:nvPr>
            <p:ph type="body" idx="1"/>
          </p:nvPr>
        </p:nvSpPr>
        <p:spPr>
          <a:xfrm>
            <a:off x="2286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4" name="Google Shape;84;p18"/>
          <p:cNvSpPr txBox="1">
            <a:spLocks noGrp="1"/>
          </p:cNvSpPr>
          <p:nvPr>
            <p:ph type="body" idx="2"/>
          </p:nvPr>
        </p:nvSpPr>
        <p:spPr>
          <a:xfrm>
            <a:off x="23241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85" name="Google Shape;85;p18"/>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6" name="Google Shape;86;p18"/>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7" name="Google Shape;87;p18"/>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90" name="Google Shape;90;p19"/>
          <p:cNvSpPr txBox="1">
            <a:spLocks noGrp="1"/>
          </p:cNvSpPr>
          <p:nvPr>
            <p:ph type="body" idx="1"/>
          </p:nvPr>
        </p:nvSpPr>
        <p:spPr>
          <a:xfrm>
            <a:off x="228600" y="767556"/>
            <a:ext cx="2020094"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91" name="Google Shape;91;p19"/>
          <p:cNvSpPr txBox="1">
            <a:spLocks noGrp="1"/>
          </p:cNvSpPr>
          <p:nvPr>
            <p:ph type="body" idx="2"/>
          </p:nvPr>
        </p:nvSpPr>
        <p:spPr>
          <a:xfrm>
            <a:off x="228600" y="1087438"/>
            <a:ext cx="2020094"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92" name="Google Shape;92;p19"/>
          <p:cNvSpPr txBox="1">
            <a:spLocks noGrp="1"/>
          </p:cNvSpPr>
          <p:nvPr>
            <p:ph type="body" idx="3"/>
          </p:nvPr>
        </p:nvSpPr>
        <p:spPr>
          <a:xfrm>
            <a:off x="2322513" y="767556"/>
            <a:ext cx="2020888"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93" name="Google Shape;93;p19"/>
          <p:cNvSpPr txBox="1">
            <a:spLocks noGrp="1"/>
          </p:cNvSpPr>
          <p:nvPr>
            <p:ph type="body" idx="4"/>
          </p:nvPr>
        </p:nvSpPr>
        <p:spPr>
          <a:xfrm>
            <a:off x="2322513" y="1087438"/>
            <a:ext cx="2020888"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94" name="Google Shape;94;p19"/>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5" name="Google Shape;95;p19"/>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6" name="Google Shape;96;p19"/>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99" name="Google Shape;99;p20"/>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0" name="Google Shape;100;p20"/>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1" name="Google Shape;101;p20"/>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228600" y="136525"/>
            <a:ext cx="1504157" cy="5810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4" name="Google Shape;104;p21"/>
          <p:cNvSpPr txBox="1">
            <a:spLocks noGrp="1"/>
          </p:cNvSpPr>
          <p:nvPr>
            <p:ph type="body" idx="1"/>
          </p:nvPr>
        </p:nvSpPr>
        <p:spPr>
          <a:xfrm>
            <a:off x="1787525" y="136525"/>
            <a:ext cx="2555875" cy="2926557"/>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105" name="Google Shape;105;p21"/>
          <p:cNvSpPr txBox="1">
            <a:spLocks noGrp="1"/>
          </p:cNvSpPr>
          <p:nvPr>
            <p:ph type="body" idx="2"/>
          </p:nvPr>
        </p:nvSpPr>
        <p:spPr>
          <a:xfrm>
            <a:off x="228600" y="717550"/>
            <a:ext cx="1504157" cy="2345532"/>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06" name="Google Shape;106;p21"/>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7" name="Google Shape;107;p21"/>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8" name="Google Shape;108;p21"/>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9"/>
        <p:cNvGrpSpPr/>
        <p:nvPr/>
      </p:nvGrpSpPr>
      <p:grpSpPr>
        <a:xfrm>
          <a:off x="0" y="0"/>
          <a:ext cx="0" cy="0"/>
          <a:chOff x="0" y="0"/>
          <a:chExt cx="0" cy="0"/>
        </a:xfrm>
      </p:grpSpPr>
      <p:sp>
        <p:nvSpPr>
          <p:cNvPr id="110" name="Google Shape;110;p22"/>
          <p:cNvSpPr txBox="1">
            <a:spLocks noGrp="1"/>
          </p:cNvSpPr>
          <p:nvPr>
            <p:ph type="title"/>
          </p:nvPr>
        </p:nvSpPr>
        <p:spPr>
          <a:xfrm>
            <a:off x="896144" y="2400300"/>
            <a:ext cx="2743200" cy="283369"/>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11" name="Google Shape;111;p22"/>
          <p:cNvSpPr>
            <a:spLocks noGrp="1"/>
          </p:cNvSpPr>
          <p:nvPr>
            <p:ph type="pic" idx="2"/>
          </p:nvPr>
        </p:nvSpPr>
        <p:spPr>
          <a:xfrm>
            <a:off x="896144" y="306388"/>
            <a:ext cx="2743200" cy="2057400"/>
          </a:xfrm>
          <a:prstGeom prst="rect">
            <a:avLst/>
          </a:prstGeom>
          <a:noFill/>
          <a:ln>
            <a:noFill/>
          </a:ln>
        </p:spPr>
      </p:sp>
      <p:sp>
        <p:nvSpPr>
          <p:cNvPr id="112" name="Google Shape;112;p22"/>
          <p:cNvSpPr txBox="1">
            <a:spLocks noGrp="1"/>
          </p:cNvSpPr>
          <p:nvPr>
            <p:ph type="body" idx="1"/>
          </p:nvPr>
        </p:nvSpPr>
        <p:spPr>
          <a:xfrm>
            <a:off x="896144" y="2683669"/>
            <a:ext cx="2743200" cy="402431"/>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13" name="Google Shape;113;p22"/>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4" name="Google Shape;114;p22"/>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5" name="Google Shape;115;p22"/>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6"/>
        <p:cNvGrpSpPr/>
        <p:nvPr/>
      </p:nvGrpSpPr>
      <p:grpSpPr>
        <a:xfrm>
          <a:off x="0" y="0"/>
          <a:ext cx="0" cy="0"/>
          <a:chOff x="0" y="0"/>
          <a:chExt cx="0" cy="0"/>
        </a:xfrm>
      </p:grpSpPr>
      <p:sp>
        <p:nvSpPr>
          <p:cNvPr id="117" name="Google Shape;117;p2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18" name="Google Shape;118;p23"/>
          <p:cNvSpPr txBox="1">
            <a:spLocks noGrp="1"/>
          </p:cNvSpPr>
          <p:nvPr>
            <p:ph type="body" idx="1"/>
          </p:nvPr>
        </p:nvSpPr>
        <p:spPr>
          <a:xfrm rot="5400000">
            <a:off x="1154509" y="-125809"/>
            <a:ext cx="2262982"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19" name="Google Shape;119;p23"/>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0" name="Google Shape;120;p23"/>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1" name="Google Shape;121;p23"/>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2"/>
        <p:cNvGrpSpPr/>
        <p:nvPr/>
      </p:nvGrpSpPr>
      <p:grpSpPr>
        <a:xfrm>
          <a:off x="0" y="0"/>
          <a:ext cx="0" cy="0"/>
          <a:chOff x="0" y="0"/>
          <a:chExt cx="0" cy="0"/>
        </a:xfrm>
      </p:grpSpPr>
      <p:sp>
        <p:nvSpPr>
          <p:cNvPr id="123" name="Google Shape;123;p24"/>
          <p:cNvSpPr txBox="1">
            <a:spLocks noGrp="1"/>
          </p:cNvSpPr>
          <p:nvPr>
            <p:ph type="title"/>
          </p:nvPr>
        </p:nvSpPr>
        <p:spPr>
          <a:xfrm rot="5400000">
            <a:off x="2366169" y="1085850"/>
            <a:ext cx="2925763"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24" name="Google Shape;124;p24"/>
          <p:cNvSpPr txBox="1">
            <a:spLocks noGrp="1"/>
          </p:cNvSpPr>
          <p:nvPr>
            <p:ph type="body" idx="1"/>
          </p:nvPr>
        </p:nvSpPr>
        <p:spPr>
          <a:xfrm rot="5400000">
            <a:off x="270669" y="95250"/>
            <a:ext cx="2925763"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25" name="Google Shape;125;p24"/>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6" name="Google Shape;126;p24"/>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7" name="Google Shape;127;p24"/>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52" name="Google Shape;52;p13"/>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1"/>
        <p:cNvGrpSpPr/>
        <p:nvPr/>
      </p:nvGrpSpPr>
      <p:grpSpPr>
        <a:xfrm>
          <a:off x="0" y="0"/>
          <a:ext cx="0" cy="0"/>
          <a:chOff x="0" y="0"/>
          <a:chExt cx="0" cy="0"/>
        </a:xfrm>
      </p:grpSpPr>
      <p:sp>
        <p:nvSpPr>
          <p:cNvPr id="132" name="Google Shape;132;p25"/>
          <p:cNvSpPr/>
          <p:nvPr/>
        </p:nvSpPr>
        <p:spPr>
          <a:xfrm>
            <a:off x="2825919" y="144667"/>
            <a:ext cx="6056255" cy="4353817"/>
          </a:xfrm>
          <a:custGeom>
            <a:avLst/>
            <a:gdLst/>
            <a:ahLst/>
            <a:cxnLst/>
            <a:rect l="l" t="t" r="r" b="b"/>
            <a:pathLst>
              <a:path w="12112509" h="8707633" extrusionOk="0">
                <a:moveTo>
                  <a:pt x="0" y="0"/>
                </a:moveTo>
                <a:lnTo>
                  <a:pt x="12112509" y="0"/>
                </a:lnTo>
                <a:lnTo>
                  <a:pt x="12112509" y="8707633"/>
                </a:lnTo>
                <a:lnTo>
                  <a:pt x="0" y="8707633"/>
                </a:lnTo>
                <a:lnTo>
                  <a:pt x="0" y="0"/>
                </a:lnTo>
                <a:close/>
              </a:path>
            </a:pathLst>
          </a:custGeom>
          <a:blipFill rotWithShape="1">
            <a:blip r:embed="rId3" cstate="screen">
              <a:alphaModFix/>
              <a:extLst>
                <a:ext uri="{28A0092B-C50C-407E-A947-70E740481C1C}">
                  <a14:useLocalDpi xmlns:a14="http://schemas.microsoft.com/office/drawing/2010/main"/>
                </a:ext>
              </a:extLst>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33" name="Google Shape;133;p25"/>
          <p:cNvSpPr/>
          <p:nvPr/>
        </p:nvSpPr>
        <p:spPr>
          <a:xfrm>
            <a:off x="7012873" y="1777787"/>
            <a:ext cx="264215" cy="264215"/>
          </a:xfrm>
          <a:custGeom>
            <a:avLst/>
            <a:gdLst/>
            <a:ahLst/>
            <a:cxnLst/>
            <a:rect l="l" t="t" r="r" b="b"/>
            <a:pathLst>
              <a:path w="528429" h="528429" extrusionOk="0">
                <a:moveTo>
                  <a:pt x="0" y="0"/>
                </a:moveTo>
                <a:lnTo>
                  <a:pt x="528429" y="0"/>
                </a:lnTo>
                <a:lnTo>
                  <a:pt x="528429" y="528429"/>
                </a:lnTo>
                <a:lnTo>
                  <a:pt x="0" y="528429"/>
                </a:lnTo>
                <a:lnTo>
                  <a:pt x="0" y="0"/>
                </a:lnTo>
                <a:close/>
              </a:path>
            </a:pathLst>
          </a:custGeom>
          <a:blipFill rotWithShape="1">
            <a:blip r:embed="rId4" cstate="screen">
              <a:alphaModFix/>
              <a:extLst>
                <a:ext uri="{28A0092B-C50C-407E-A947-70E740481C1C}">
                  <a14:useLocalDpi xmlns:a14="http://schemas.microsoft.com/office/drawing/2010/main"/>
                </a:ext>
              </a:extLst>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34" name="Google Shape;134;p25"/>
          <p:cNvSpPr txBox="1"/>
          <p:nvPr/>
        </p:nvSpPr>
        <p:spPr>
          <a:xfrm>
            <a:off x="464324" y="1206775"/>
            <a:ext cx="6486600" cy="1828193"/>
          </a:xfrm>
          <a:prstGeom prst="rect">
            <a:avLst/>
          </a:prstGeom>
          <a:noFill/>
          <a:ln>
            <a:noFill/>
          </a:ln>
        </p:spPr>
        <p:txBody>
          <a:bodyPr spcFirstLastPara="1" wrap="square" lIns="0" tIns="0" rIns="0" bIns="0" anchor="t" anchorCtr="0">
            <a:spAutoFit/>
          </a:bodyPr>
          <a:lstStyle/>
          <a:p>
            <a:pPr marL="0" marR="0" lvl="0" indent="0" algn="l" rtl="0">
              <a:lnSpc>
                <a:spcPct val="110001"/>
              </a:lnSpc>
              <a:spcBef>
                <a:spcPts val="0"/>
              </a:spcBef>
              <a:spcAft>
                <a:spcPts val="0"/>
              </a:spcAft>
              <a:buNone/>
            </a:pPr>
            <a:r>
              <a:rPr lang="en-GB" sz="4000" dirty="0">
                <a:solidFill>
                  <a:srgbClr val="FBF9F1"/>
                </a:solidFill>
                <a:latin typeface="Poppins"/>
                <a:ea typeface="Poppins"/>
                <a:cs typeface="Poppins"/>
                <a:sym typeface="Poppins"/>
              </a:rPr>
              <a:t>Solution submission by</a:t>
            </a:r>
            <a:br>
              <a:rPr lang="en-GB" sz="4000" dirty="0">
                <a:solidFill>
                  <a:srgbClr val="FBF9F1"/>
                </a:solidFill>
                <a:latin typeface="Poppins"/>
                <a:ea typeface="Poppins"/>
                <a:cs typeface="Poppins"/>
                <a:sym typeface="Poppins"/>
              </a:rPr>
            </a:br>
            <a:r>
              <a:rPr lang="en-GB" sz="4000" dirty="0">
                <a:solidFill>
                  <a:srgbClr val="FBF9F1"/>
                </a:solidFill>
                <a:latin typeface="Poppins"/>
                <a:ea typeface="Poppins"/>
                <a:cs typeface="Poppins"/>
                <a:sym typeface="Poppins"/>
              </a:rPr>
              <a:t> </a:t>
            </a:r>
            <a:r>
              <a:rPr lang="en-GB" sz="6800" b="1" dirty="0">
                <a:solidFill>
                  <a:srgbClr val="A4C2F4"/>
                </a:solidFill>
                <a:latin typeface="Poppins"/>
                <a:ea typeface="Poppins"/>
                <a:cs typeface="Poppins"/>
                <a:sym typeface="Poppins"/>
              </a:rPr>
              <a:t>&lt;</a:t>
            </a:r>
            <a:r>
              <a:rPr lang="en-GB" sz="6800" b="1" i="1" dirty="0">
                <a:solidFill>
                  <a:srgbClr val="A4C2F4"/>
                </a:solidFill>
                <a:latin typeface="Poppins"/>
                <a:ea typeface="Poppins"/>
                <a:cs typeface="Poppins"/>
                <a:sym typeface="Poppins"/>
              </a:rPr>
              <a:t>TEAM NAME</a:t>
            </a:r>
            <a:r>
              <a:rPr lang="en-GB" sz="6800" b="1" dirty="0">
                <a:solidFill>
                  <a:srgbClr val="A4C2F4"/>
                </a:solidFill>
                <a:latin typeface="Poppins"/>
                <a:ea typeface="Poppins"/>
                <a:cs typeface="Poppins"/>
                <a:sym typeface="Poppins"/>
              </a:rPr>
              <a:t>&gt;</a:t>
            </a:r>
            <a:endParaRPr sz="200" dirty="0">
              <a:solidFill>
                <a:srgbClr val="A4C2F4"/>
              </a:solidFill>
            </a:endParaRPr>
          </a:p>
        </p:txBody>
      </p:sp>
      <p:sp>
        <p:nvSpPr>
          <p:cNvPr id="135" name="Google Shape;135;p25"/>
          <p:cNvSpPr txBox="1"/>
          <p:nvPr/>
        </p:nvSpPr>
        <p:spPr>
          <a:xfrm>
            <a:off x="464325" y="3416925"/>
            <a:ext cx="3942000" cy="936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600" i="1">
                <a:solidFill>
                  <a:srgbClr val="E5E1DA"/>
                </a:solidFill>
                <a:latin typeface="Poppins"/>
                <a:ea typeface="Poppins"/>
                <a:cs typeface="Poppins"/>
                <a:sym typeface="Poppins"/>
              </a:rPr>
              <a:t>Note: This is a reference Slide. Add as many details as you want. (New PPT should be created)</a:t>
            </a:r>
            <a:endParaRPr sz="700" i="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39"/>
        <p:cNvGrpSpPr/>
        <p:nvPr/>
      </p:nvGrpSpPr>
      <p:grpSpPr>
        <a:xfrm>
          <a:off x="0" y="0"/>
          <a:ext cx="0" cy="0"/>
          <a:chOff x="0" y="0"/>
          <a:chExt cx="0" cy="0"/>
        </a:xfrm>
      </p:grpSpPr>
      <p:sp>
        <p:nvSpPr>
          <p:cNvPr id="140" name="Google Shape;140;p26"/>
          <p:cNvSpPr/>
          <p:nvPr/>
        </p:nvSpPr>
        <p:spPr>
          <a:xfrm>
            <a:off x="416560" y="1428750"/>
            <a:ext cx="1311547" cy="1422897"/>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45725" tIns="22850" rIns="45725" bIns="22850" anchor="ctr" anchorCtr="0">
            <a:noAutofit/>
          </a:bodyPr>
          <a:lstStyle/>
          <a:p>
            <a:pPr marL="0" marR="0" lvl="0" indent="0" algn="ctr" rtl="0">
              <a:spcBef>
                <a:spcPts val="0"/>
              </a:spcBef>
              <a:spcAft>
                <a:spcPts val="0"/>
              </a:spcAft>
              <a:buNone/>
            </a:pPr>
            <a:endParaRPr sz="900">
              <a:solidFill>
                <a:schemeClr val="dk1"/>
              </a:solidFill>
              <a:latin typeface="Calibri"/>
              <a:ea typeface="Calibri"/>
              <a:cs typeface="Calibri"/>
              <a:sym typeface="Calibri"/>
            </a:endParaRPr>
          </a:p>
        </p:txBody>
      </p:sp>
      <p:sp>
        <p:nvSpPr>
          <p:cNvPr id="141" name="Google Shape;141;p26"/>
          <p:cNvSpPr/>
          <p:nvPr/>
        </p:nvSpPr>
        <p:spPr>
          <a:xfrm rot="-2227012">
            <a:off x="7779202" y="3286743"/>
            <a:ext cx="1174911" cy="1792448"/>
          </a:xfrm>
          <a:custGeom>
            <a:avLst/>
            <a:gdLst/>
            <a:ahLst/>
            <a:cxnLst/>
            <a:rect l="l" t="t" r="r" b="b"/>
            <a:pathLst>
              <a:path w="10128448" h="10895890" extrusionOk="0">
                <a:moveTo>
                  <a:pt x="0" y="0"/>
                </a:moveTo>
                <a:lnTo>
                  <a:pt x="10128447" y="0"/>
                </a:lnTo>
                <a:lnTo>
                  <a:pt x="10128447" y="10895890"/>
                </a:lnTo>
                <a:lnTo>
                  <a:pt x="0" y="10895890"/>
                </a:lnTo>
                <a:lnTo>
                  <a:pt x="0" y="0"/>
                </a:lnTo>
                <a:close/>
              </a:path>
            </a:pathLst>
          </a:custGeom>
          <a:blipFill rotWithShape="1">
            <a:blip r:embed="rId3" cstate="screen">
              <a:alphaModFix/>
              <a:extLst>
                <a:ext uri="{28A0092B-C50C-407E-A947-70E740481C1C}">
                  <a14:useLocalDpi xmlns:a14="http://schemas.microsoft.com/office/drawing/2010/main"/>
                </a:ext>
              </a:extLst>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42" name="Google Shape;142;p26"/>
          <p:cNvSpPr txBox="1"/>
          <p:nvPr/>
        </p:nvSpPr>
        <p:spPr>
          <a:xfrm>
            <a:off x="430167" y="3333750"/>
            <a:ext cx="1433544" cy="16196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000">
                <a:solidFill>
                  <a:srgbClr val="E5E1DA"/>
                </a:solidFill>
                <a:latin typeface="Lato"/>
                <a:ea typeface="Lato"/>
                <a:cs typeface="Lato"/>
                <a:sym typeface="Lato"/>
              </a:rPr>
              <a:t>About You</a:t>
            </a:r>
            <a:endParaRPr sz="700"/>
          </a:p>
        </p:txBody>
      </p:sp>
      <p:sp>
        <p:nvSpPr>
          <p:cNvPr id="143" name="Google Shape;143;p26"/>
          <p:cNvSpPr txBox="1"/>
          <p:nvPr/>
        </p:nvSpPr>
        <p:spPr>
          <a:xfrm>
            <a:off x="423364" y="3015140"/>
            <a:ext cx="1297939" cy="18530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200" b="1">
                <a:solidFill>
                  <a:srgbClr val="FBF9F1"/>
                </a:solidFill>
                <a:latin typeface="Lato"/>
                <a:ea typeface="Lato"/>
                <a:cs typeface="Lato"/>
                <a:sym typeface="Lato"/>
              </a:rPr>
              <a:t>Your Name</a:t>
            </a:r>
            <a:endParaRPr sz="700"/>
          </a:p>
        </p:txBody>
      </p:sp>
      <p:sp>
        <p:nvSpPr>
          <p:cNvPr id="144" name="Google Shape;144;p26"/>
          <p:cNvSpPr txBox="1"/>
          <p:nvPr/>
        </p:nvSpPr>
        <p:spPr>
          <a:xfrm>
            <a:off x="2361520" y="282877"/>
            <a:ext cx="3955800" cy="4617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GB" sz="3000" b="1">
                <a:solidFill>
                  <a:srgbClr val="FBF9F1"/>
                </a:solidFill>
                <a:latin typeface="Poppins"/>
                <a:ea typeface="Poppins"/>
                <a:cs typeface="Poppins"/>
                <a:sym typeface="Poppins"/>
              </a:rPr>
              <a:t>MEET THE TEAM</a:t>
            </a:r>
            <a:endParaRPr sz="700"/>
          </a:p>
        </p:txBody>
      </p:sp>
      <p:sp>
        <p:nvSpPr>
          <p:cNvPr id="145" name="Google Shape;145;p26"/>
          <p:cNvSpPr/>
          <p:nvPr/>
        </p:nvSpPr>
        <p:spPr>
          <a:xfrm>
            <a:off x="1909558" y="1423307"/>
            <a:ext cx="1311547" cy="1422897"/>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45725" tIns="22850" rIns="45725" bIns="22850" anchor="ctr" anchorCtr="0">
            <a:noAutofit/>
          </a:bodyPr>
          <a:lstStyle/>
          <a:p>
            <a:pPr marL="0" marR="0" lvl="0" indent="0" algn="ctr" rtl="0">
              <a:spcBef>
                <a:spcPts val="0"/>
              </a:spcBef>
              <a:spcAft>
                <a:spcPts val="0"/>
              </a:spcAft>
              <a:buNone/>
            </a:pPr>
            <a:endParaRPr sz="900">
              <a:solidFill>
                <a:schemeClr val="dk1"/>
              </a:solidFill>
              <a:latin typeface="Calibri"/>
              <a:ea typeface="Calibri"/>
              <a:cs typeface="Calibri"/>
              <a:sym typeface="Calibri"/>
            </a:endParaRPr>
          </a:p>
        </p:txBody>
      </p:sp>
      <p:sp>
        <p:nvSpPr>
          <p:cNvPr id="146" name="Google Shape;146;p26"/>
          <p:cNvSpPr/>
          <p:nvPr/>
        </p:nvSpPr>
        <p:spPr>
          <a:xfrm>
            <a:off x="3351511" y="1423307"/>
            <a:ext cx="1311547" cy="1422897"/>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45725" tIns="22850" rIns="45725" bIns="22850" anchor="ctr" anchorCtr="0">
            <a:noAutofit/>
          </a:bodyPr>
          <a:lstStyle/>
          <a:p>
            <a:pPr marL="0" marR="0" lvl="0" indent="0" algn="ctr" rtl="0">
              <a:spcBef>
                <a:spcPts val="0"/>
              </a:spcBef>
              <a:spcAft>
                <a:spcPts val="0"/>
              </a:spcAft>
              <a:buNone/>
            </a:pPr>
            <a:endParaRPr sz="900">
              <a:solidFill>
                <a:schemeClr val="dk1"/>
              </a:solidFill>
              <a:latin typeface="Calibri"/>
              <a:ea typeface="Calibri"/>
              <a:cs typeface="Calibri"/>
              <a:sym typeface="Calibri"/>
            </a:endParaRPr>
          </a:p>
        </p:txBody>
      </p:sp>
      <p:sp>
        <p:nvSpPr>
          <p:cNvPr id="147" name="Google Shape;147;p26"/>
          <p:cNvSpPr/>
          <p:nvPr/>
        </p:nvSpPr>
        <p:spPr>
          <a:xfrm>
            <a:off x="4793465" y="1408134"/>
            <a:ext cx="1311547" cy="1422897"/>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45725" tIns="22850" rIns="45725" bIns="22850" anchor="ctr" anchorCtr="0">
            <a:noAutofit/>
          </a:bodyPr>
          <a:lstStyle/>
          <a:p>
            <a:pPr marL="0" marR="0" lvl="0" indent="0" algn="ctr" rtl="0">
              <a:spcBef>
                <a:spcPts val="0"/>
              </a:spcBef>
              <a:spcAft>
                <a:spcPts val="0"/>
              </a:spcAft>
              <a:buNone/>
            </a:pPr>
            <a:endParaRPr sz="900">
              <a:solidFill>
                <a:schemeClr val="dk1"/>
              </a:solidFill>
              <a:latin typeface="Calibri"/>
              <a:ea typeface="Calibri"/>
              <a:cs typeface="Calibri"/>
              <a:sym typeface="Calibri"/>
            </a:endParaRPr>
          </a:p>
        </p:txBody>
      </p:sp>
      <p:sp>
        <p:nvSpPr>
          <p:cNvPr id="148" name="Google Shape;148;p26"/>
          <p:cNvSpPr/>
          <p:nvPr/>
        </p:nvSpPr>
        <p:spPr>
          <a:xfrm>
            <a:off x="6239358" y="1399170"/>
            <a:ext cx="1311546" cy="1422897"/>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45725" tIns="22850" rIns="45725" bIns="22850" anchor="ctr" anchorCtr="0">
            <a:noAutofit/>
          </a:bodyPr>
          <a:lstStyle/>
          <a:p>
            <a:pPr marL="0" marR="0" lvl="0" indent="0" algn="ctr" rtl="0">
              <a:spcBef>
                <a:spcPts val="0"/>
              </a:spcBef>
              <a:spcAft>
                <a:spcPts val="0"/>
              </a:spcAft>
              <a:buNone/>
            </a:pPr>
            <a:endParaRPr sz="900">
              <a:solidFill>
                <a:schemeClr val="dk1"/>
              </a:solidFill>
              <a:latin typeface="Calibri"/>
              <a:ea typeface="Calibri"/>
              <a:cs typeface="Calibri"/>
              <a:sym typeface="Calibri"/>
            </a:endParaRPr>
          </a:p>
        </p:txBody>
      </p:sp>
      <p:sp>
        <p:nvSpPr>
          <p:cNvPr id="149" name="Google Shape;149;p26"/>
          <p:cNvSpPr txBox="1"/>
          <p:nvPr/>
        </p:nvSpPr>
        <p:spPr>
          <a:xfrm>
            <a:off x="1909558" y="3015140"/>
            <a:ext cx="1297940" cy="18530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200" b="1">
                <a:solidFill>
                  <a:srgbClr val="FBF9F1"/>
                </a:solidFill>
                <a:latin typeface="Lato"/>
                <a:ea typeface="Lato"/>
                <a:cs typeface="Lato"/>
                <a:sym typeface="Lato"/>
              </a:rPr>
              <a:t>Your Name</a:t>
            </a:r>
            <a:endParaRPr sz="700"/>
          </a:p>
        </p:txBody>
      </p:sp>
      <p:sp>
        <p:nvSpPr>
          <p:cNvPr id="150" name="Google Shape;150;p26"/>
          <p:cNvSpPr txBox="1"/>
          <p:nvPr/>
        </p:nvSpPr>
        <p:spPr>
          <a:xfrm>
            <a:off x="3395753" y="3015140"/>
            <a:ext cx="1297939" cy="18530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200" b="1">
                <a:solidFill>
                  <a:srgbClr val="FBF9F1"/>
                </a:solidFill>
                <a:latin typeface="Lato"/>
                <a:ea typeface="Lato"/>
                <a:cs typeface="Lato"/>
                <a:sym typeface="Lato"/>
              </a:rPr>
              <a:t>Your Name</a:t>
            </a:r>
            <a:endParaRPr sz="700"/>
          </a:p>
        </p:txBody>
      </p:sp>
      <p:sp>
        <p:nvSpPr>
          <p:cNvPr id="151" name="Google Shape;151;p26"/>
          <p:cNvSpPr txBox="1"/>
          <p:nvPr/>
        </p:nvSpPr>
        <p:spPr>
          <a:xfrm>
            <a:off x="4868339" y="3032249"/>
            <a:ext cx="1297940" cy="18530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200" b="1">
                <a:solidFill>
                  <a:srgbClr val="FBF9F1"/>
                </a:solidFill>
                <a:latin typeface="Lato"/>
                <a:ea typeface="Lato"/>
                <a:cs typeface="Lato"/>
                <a:sym typeface="Lato"/>
              </a:rPr>
              <a:t>Your Name</a:t>
            </a:r>
            <a:endParaRPr sz="700"/>
          </a:p>
        </p:txBody>
      </p:sp>
      <p:sp>
        <p:nvSpPr>
          <p:cNvPr id="152" name="Google Shape;152;p26"/>
          <p:cNvSpPr txBox="1"/>
          <p:nvPr/>
        </p:nvSpPr>
        <p:spPr>
          <a:xfrm>
            <a:off x="6288276" y="3017659"/>
            <a:ext cx="1297939" cy="18530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200" b="1">
                <a:solidFill>
                  <a:srgbClr val="FBF9F1"/>
                </a:solidFill>
                <a:latin typeface="Lato"/>
                <a:ea typeface="Lato"/>
                <a:cs typeface="Lato"/>
                <a:sym typeface="Lato"/>
              </a:rPr>
              <a:t>Your Name</a:t>
            </a:r>
            <a:endParaRPr sz="700"/>
          </a:p>
        </p:txBody>
      </p:sp>
      <p:sp>
        <p:nvSpPr>
          <p:cNvPr id="153" name="Google Shape;153;p26"/>
          <p:cNvSpPr txBox="1"/>
          <p:nvPr/>
        </p:nvSpPr>
        <p:spPr>
          <a:xfrm>
            <a:off x="1906837" y="3343977"/>
            <a:ext cx="1433544" cy="16196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000">
                <a:solidFill>
                  <a:srgbClr val="E5E1DA"/>
                </a:solidFill>
                <a:latin typeface="Lato"/>
                <a:ea typeface="Lato"/>
                <a:cs typeface="Lato"/>
                <a:sym typeface="Lato"/>
              </a:rPr>
              <a:t>About You</a:t>
            </a:r>
            <a:endParaRPr sz="700"/>
          </a:p>
        </p:txBody>
      </p:sp>
      <p:sp>
        <p:nvSpPr>
          <p:cNvPr id="154" name="Google Shape;154;p26"/>
          <p:cNvSpPr txBox="1"/>
          <p:nvPr/>
        </p:nvSpPr>
        <p:spPr>
          <a:xfrm>
            <a:off x="3395753" y="3343977"/>
            <a:ext cx="1433543" cy="16196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000">
                <a:solidFill>
                  <a:srgbClr val="E5E1DA"/>
                </a:solidFill>
                <a:latin typeface="Lato"/>
                <a:ea typeface="Lato"/>
                <a:cs typeface="Lato"/>
                <a:sym typeface="Lato"/>
              </a:rPr>
              <a:t>About You</a:t>
            </a:r>
            <a:endParaRPr sz="700"/>
          </a:p>
        </p:txBody>
      </p:sp>
      <p:sp>
        <p:nvSpPr>
          <p:cNvPr id="155" name="Google Shape;155;p26"/>
          <p:cNvSpPr txBox="1"/>
          <p:nvPr/>
        </p:nvSpPr>
        <p:spPr>
          <a:xfrm>
            <a:off x="4871061" y="3312537"/>
            <a:ext cx="1433543" cy="16196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000">
                <a:solidFill>
                  <a:srgbClr val="E5E1DA"/>
                </a:solidFill>
                <a:latin typeface="Lato"/>
                <a:ea typeface="Lato"/>
                <a:cs typeface="Lato"/>
                <a:sym typeface="Lato"/>
              </a:rPr>
              <a:t>About You</a:t>
            </a:r>
            <a:endParaRPr sz="700"/>
          </a:p>
        </p:txBody>
      </p:sp>
      <p:sp>
        <p:nvSpPr>
          <p:cNvPr id="156" name="Google Shape;156;p26"/>
          <p:cNvSpPr txBox="1"/>
          <p:nvPr/>
        </p:nvSpPr>
        <p:spPr>
          <a:xfrm>
            <a:off x="6304604" y="3312536"/>
            <a:ext cx="1433544" cy="16196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000">
                <a:solidFill>
                  <a:srgbClr val="E5E1DA"/>
                </a:solidFill>
                <a:latin typeface="Lato"/>
                <a:ea typeface="Lato"/>
                <a:cs typeface="Lato"/>
                <a:sym typeface="Lato"/>
              </a:rPr>
              <a:t>About You</a:t>
            </a:r>
            <a:endParaRPr sz="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60"/>
        <p:cNvGrpSpPr/>
        <p:nvPr/>
      </p:nvGrpSpPr>
      <p:grpSpPr>
        <a:xfrm>
          <a:off x="0" y="0"/>
          <a:ext cx="0" cy="0"/>
          <a:chOff x="0" y="0"/>
          <a:chExt cx="0" cy="0"/>
        </a:xfrm>
      </p:grpSpPr>
      <p:grpSp>
        <p:nvGrpSpPr>
          <p:cNvPr id="161" name="Google Shape;161;p27"/>
          <p:cNvGrpSpPr/>
          <p:nvPr/>
        </p:nvGrpSpPr>
        <p:grpSpPr>
          <a:xfrm rot="5400000">
            <a:off x="1652654" y="2365177"/>
            <a:ext cx="4364465" cy="413136"/>
            <a:chOff x="0" y="-38100"/>
            <a:chExt cx="2299023" cy="217623"/>
          </a:xfrm>
        </p:grpSpPr>
        <p:sp>
          <p:nvSpPr>
            <p:cNvPr id="162" name="Google Shape;162;p27"/>
            <p:cNvSpPr/>
            <p:nvPr/>
          </p:nvSpPr>
          <p:spPr>
            <a:xfrm>
              <a:off x="0" y="0"/>
              <a:ext cx="2299023" cy="179523"/>
            </a:xfrm>
            <a:custGeom>
              <a:avLst/>
              <a:gdLst/>
              <a:ahLst/>
              <a:cxnLst/>
              <a:rect l="l" t="t" r="r" b="b"/>
              <a:pathLst>
                <a:path w="2299023" h="179523" extrusionOk="0">
                  <a:moveTo>
                    <a:pt x="56762" y="0"/>
                  </a:moveTo>
                  <a:lnTo>
                    <a:pt x="2242261" y="0"/>
                  </a:lnTo>
                  <a:cubicBezTo>
                    <a:pt x="2257315" y="0"/>
                    <a:pt x="2271753" y="5980"/>
                    <a:pt x="2282398" y="16625"/>
                  </a:cubicBezTo>
                  <a:cubicBezTo>
                    <a:pt x="2293043" y="27270"/>
                    <a:pt x="2299023" y="41708"/>
                    <a:pt x="2299023" y="56762"/>
                  </a:cubicBezTo>
                  <a:lnTo>
                    <a:pt x="2299023" y="122760"/>
                  </a:lnTo>
                  <a:cubicBezTo>
                    <a:pt x="2299023" y="137815"/>
                    <a:pt x="2293043" y="152252"/>
                    <a:pt x="2282398" y="162897"/>
                  </a:cubicBezTo>
                  <a:cubicBezTo>
                    <a:pt x="2271753" y="173542"/>
                    <a:pt x="2257315" y="179523"/>
                    <a:pt x="2242261" y="179523"/>
                  </a:cubicBezTo>
                  <a:lnTo>
                    <a:pt x="56762" y="179523"/>
                  </a:lnTo>
                  <a:cubicBezTo>
                    <a:pt x="41708" y="179523"/>
                    <a:pt x="27270" y="173542"/>
                    <a:pt x="16625" y="162897"/>
                  </a:cubicBezTo>
                  <a:cubicBezTo>
                    <a:pt x="5980" y="152252"/>
                    <a:pt x="0" y="137815"/>
                    <a:pt x="0" y="122760"/>
                  </a:cubicBezTo>
                  <a:lnTo>
                    <a:pt x="0" y="56762"/>
                  </a:lnTo>
                  <a:cubicBezTo>
                    <a:pt x="0" y="41708"/>
                    <a:pt x="5980" y="27270"/>
                    <a:pt x="16625" y="16625"/>
                  </a:cubicBezTo>
                  <a:cubicBezTo>
                    <a:pt x="27270" y="5980"/>
                    <a:pt x="41708" y="0"/>
                    <a:pt x="56762" y="0"/>
                  </a:cubicBezTo>
                  <a:close/>
                </a:path>
              </a:pathLst>
            </a:custGeom>
            <a:solidFill>
              <a:srgbClr val="000000">
                <a:alpha val="0"/>
              </a:srgbClr>
            </a:solidFill>
            <a:ln w="38100" cap="rnd" cmpd="sng">
              <a:solidFill>
                <a:srgbClr val="E5E1DA"/>
              </a:solidFill>
              <a:prstDash val="solid"/>
              <a:round/>
              <a:headEnd type="none" w="sm" len="sm"/>
              <a:tailEnd type="none" w="sm" len="sm"/>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63" name="Google Shape;163;p27"/>
            <p:cNvSpPr txBox="1"/>
            <p:nvPr/>
          </p:nvSpPr>
          <p:spPr>
            <a:xfrm>
              <a:off x="0" y="-38100"/>
              <a:ext cx="2299023" cy="217623"/>
            </a:xfrm>
            <a:prstGeom prst="rect">
              <a:avLst/>
            </a:prstGeom>
            <a:noFill/>
            <a:ln>
              <a:noFill/>
            </a:ln>
          </p:spPr>
          <p:txBody>
            <a:bodyPr spcFirstLastPara="1" wrap="square" lIns="25400" tIns="25400" rIns="25400" bIns="25400" anchor="ctr" anchorCtr="0">
              <a:noAutofit/>
            </a:bodyPr>
            <a:lstStyle/>
            <a:p>
              <a:pPr marL="0" marR="0" lvl="0" indent="0" algn="ctr" rtl="0">
                <a:lnSpc>
                  <a:spcPct val="147722"/>
                </a:lnSpc>
                <a:spcBef>
                  <a:spcPts val="0"/>
                </a:spcBef>
                <a:spcAft>
                  <a:spcPts val="0"/>
                </a:spcAft>
                <a:buNone/>
              </a:pPr>
              <a:endParaRPr sz="900">
                <a:solidFill>
                  <a:schemeClr val="dk1"/>
                </a:solidFill>
                <a:latin typeface="Calibri"/>
                <a:ea typeface="Calibri"/>
                <a:cs typeface="Calibri"/>
                <a:sym typeface="Calibri"/>
              </a:endParaRPr>
            </a:p>
          </p:txBody>
        </p:sp>
      </p:grpSp>
      <p:sp>
        <p:nvSpPr>
          <p:cNvPr id="164" name="Google Shape;164;p27"/>
          <p:cNvSpPr/>
          <p:nvPr/>
        </p:nvSpPr>
        <p:spPr>
          <a:xfrm>
            <a:off x="3684419" y="463429"/>
            <a:ext cx="228600" cy="230327"/>
          </a:xfrm>
          <a:custGeom>
            <a:avLst/>
            <a:gdLst/>
            <a:ahLst/>
            <a:cxnLst/>
            <a:rect l="l" t="t" r="r" b="b"/>
            <a:pathLst>
              <a:path w="457200" h="460655" extrusionOk="0">
                <a:moveTo>
                  <a:pt x="0" y="0"/>
                </a:moveTo>
                <a:lnTo>
                  <a:pt x="457200" y="0"/>
                </a:lnTo>
                <a:lnTo>
                  <a:pt x="457200" y="460655"/>
                </a:lnTo>
                <a:lnTo>
                  <a:pt x="0" y="460655"/>
                </a:lnTo>
                <a:lnTo>
                  <a:pt x="0" y="0"/>
                </a:lnTo>
                <a:close/>
              </a:path>
            </a:pathLst>
          </a:custGeom>
          <a:blipFill rotWithShape="1">
            <a:blip r:embed="rId3" cstate="screen">
              <a:alphaModFix/>
              <a:extLst>
                <a:ext uri="{28A0092B-C50C-407E-A947-70E740481C1C}">
                  <a14:useLocalDpi xmlns:a14="http://schemas.microsoft.com/office/drawing/2010/main"/>
                </a:ext>
              </a:extLst>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65" name="Google Shape;165;p27"/>
          <p:cNvSpPr/>
          <p:nvPr/>
        </p:nvSpPr>
        <p:spPr>
          <a:xfrm>
            <a:off x="3678719" y="1144239"/>
            <a:ext cx="228600" cy="230327"/>
          </a:xfrm>
          <a:custGeom>
            <a:avLst/>
            <a:gdLst/>
            <a:ahLst/>
            <a:cxnLst/>
            <a:rect l="l" t="t" r="r" b="b"/>
            <a:pathLst>
              <a:path w="457200" h="460655" extrusionOk="0">
                <a:moveTo>
                  <a:pt x="0" y="0"/>
                </a:moveTo>
                <a:lnTo>
                  <a:pt x="457200" y="0"/>
                </a:lnTo>
                <a:lnTo>
                  <a:pt x="457200" y="460655"/>
                </a:lnTo>
                <a:lnTo>
                  <a:pt x="0" y="460655"/>
                </a:lnTo>
                <a:lnTo>
                  <a:pt x="0" y="0"/>
                </a:lnTo>
                <a:close/>
              </a:path>
            </a:pathLst>
          </a:custGeom>
          <a:blipFill rotWithShape="1">
            <a:blip r:embed="rId3" cstate="screen">
              <a:alphaModFix/>
              <a:extLst>
                <a:ext uri="{28A0092B-C50C-407E-A947-70E740481C1C}">
                  <a14:useLocalDpi xmlns:a14="http://schemas.microsoft.com/office/drawing/2010/main"/>
                </a:ext>
              </a:extLst>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66" name="Google Shape;166;p27"/>
          <p:cNvSpPr/>
          <p:nvPr/>
        </p:nvSpPr>
        <p:spPr>
          <a:xfrm>
            <a:off x="3692480" y="3857373"/>
            <a:ext cx="228600" cy="230328"/>
          </a:xfrm>
          <a:custGeom>
            <a:avLst/>
            <a:gdLst/>
            <a:ahLst/>
            <a:cxnLst/>
            <a:rect l="l" t="t" r="r" b="b"/>
            <a:pathLst>
              <a:path w="457200" h="460655" extrusionOk="0">
                <a:moveTo>
                  <a:pt x="0" y="0"/>
                </a:moveTo>
                <a:lnTo>
                  <a:pt x="457200" y="0"/>
                </a:lnTo>
                <a:lnTo>
                  <a:pt x="457200" y="460655"/>
                </a:lnTo>
                <a:lnTo>
                  <a:pt x="0" y="460655"/>
                </a:lnTo>
                <a:lnTo>
                  <a:pt x="0" y="0"/>
                </a:lnTo>
                <a:close/>
              </a:path>
            </a:pathLst>
          </a:custGeom>
          <a:blipFill rotWithShape="1">
            <a:blip r:embed="rId3" cstate="screen">
              <a:alphaModFix/>
              <a:extLst>
                <a:ext uri="{28A0092B-C50C-407E-A947-70E740481C1C}">
                  <a14:useLocalDpi xmlns:a14="http://schemas.microsoft.com/office/drawing/2010/main"/>
                </a:ext>
              </a:extLst>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67" name="Google Shape;167;p27"/>
          <p:cNvSpPr/>
          <p:nvPr/>
        </p:nvSpPr>
        <p:spPr>
          <a:xfrm rot="10435653">
            <a:off x="592375" y="763456"/>
            <a:ext cx="2818817" cy="2123513"/>
          </a:xfrm>
          <a:custGeom>
            <a:avLst/>
            <a:gdLst/>
            <a:ahLst/>
            <a:cxnLst/>
            <a:rect l="l" t="t" r="r" b="b"/>
            <a:pathLst>
              <a:path w="7951775" h="8527373" extrusionOk="0">
                <a:moveTo>
                  <a:pt x="0" y="0"/>
                </a:moveTo>
                <a:lnTo>
                  <a:pt x="7951775" y="0"/>
                </a:lnTo>
                <a:lnTo>
                  <a:pt x="7951775" y="8527373"/>
                </a:lnTo>
                <a:lnTo>
                  <a:pt x="0" y="8527373"/>
                </a:lnTo>
                <a:lnTo>
                  <a:pt x="0" y="0"/>
                </a:lnTo>
                <a:close/>
              </a:path>
            </a:pathLst>
          </a:custGeom>
          <a:blipFill rotWithShape="1">
            <a:blip r:embed="rId4" cstate="screen">
              <a:alphaModFix/>
              <a:extLst>
                <a:ext uri="{28A0092B-C50C-407E-A947-70E740481C1C}">
                  <a14:useLocalDpi xmlns:a14="http://schemas.microsoft.com/office/drawing/2010/main"/>
                </a:ext>
              </a:extLst>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68" name="Google Shape;168;p27"/>
          <p:cNvSpPr txBox="1"/>
          <p:nvPr/>
        </p:nvSpPr>
        <p:spPr>
          <a:xfrm>
            <a:off x="4149253" y="359866"/>
            <a:ext cx="2599800" cy="2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300" b="1">
                <a:solidFill>
                  <a:srgbClr val="FFD944"/>
                </a:solidFill>
                <a:latin typeface="Lato"/>
                <a:ea typeface="Lato"/>
                <a:cs typeface="Lato"/>
                <a:sym typeface="Lato"/>
              </a:rPr>
              <a:t>Problem Statement </a:t>
            </a:r>
            <a:endParaRPr sz="700"/>
          </a:p>
        </p:txBody>
      </p:sp>
      <p:sp>
        <p:nvSpPr>
          <p:cNvPr id="169" name="Google Shape;169;p27"/>
          <p:cNvSpPr txBox="1"/>
          <p:nvPr/>
        </p:nvSpPr>
        <p:spPr>
          <a:xfrm>
            <a:off x="4149253" y="559972"/>
            <a:ext cx="3730500" cy="169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100">
                <a:solidFill>
                  <a:srgbClr val="E5E1DA"/>
                </a:solidFill>
                <a:latin typeface="Lato"/>
                <a:ea typeface="Lato"/>
                <a:cs typeface="Lato"/>
                <a:sym typeface="Lato"/>
              </a:rPr>
              <a:t>Manual medical image analysis causes diagnostic delays</a:t>
            </a:r>
            <a:endParaRPr sz="1100">
              <a:solidFill>
                <a:srgbClr val="E5E1DA"/>
              </a:solidFill>
              <a:latin typeface="Lato"/>
              <a:ea typeface="Lato"/>
              <a:cs typeface="Lato"/>
              <a:sym typeface="Lato"/>
            </a:endParaRPr>
          </a:p>
        </p:txBody>
      </p:sp>
      <p:sp>
        <p:nvSpPr>
          <p:cNvPr id="170" name="Google Shape;170;p27"/>
          <p:cNvSpPr txBox="1"/>
          <p:nvPr/>
        </p:nvSpPr>
        <p:spPr>
          <a:xfrm>
            <a:off x="264925" y="3029585"/>
            <a:ext cx="2926500" cy="9696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GB" sz="3000" b="1">
                <a:solidFill>
                  <a:srgbClr val="FBF9F1"/>
                </a:solidFill>
                <a:latin typeface="Poppins"/>
                <a:ea typeface="Poppins"/>
                <a:cs typeface="Poppins"/>
                <a:sym typeface="Poppins"/>
              </a:rPr>
              <a:t>PROBLEM STATEMENT </a:t>
            </a:r>
            <a:endParaRPr sz="700"/>
          </a:p>
        </p:txBody>
      </p:sp>
      <p:sp>
        <p:nvSpPr>
          <p:cNvPr id="171" name="Google Shape;171;p27"/>
          <p:cNvSpPr txBox="1"/>
          <p:nvPr/>
        </p:nvSpPr>
        <p:spPr>
          <a:xfrm>
            <a:off x="4149253" y="751576"/>
            <a:ext cx="3150000" cy="2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300" b="1">
                <a:solidFill>
                  <a:srgbClr val="FFD944"/>
                </a:solidFill>
                <a:latin typeface="Lato"/>
                <a:ea typeface="Lato"/>
                <a:cs typeface="Lato"/>
                <a:sym typeface="Lato"/>
              </a:rPr>
              <a:t>Problem Statement Expansion</a:t>
            </a:r>
            <a:endParaRPr sz="700"/>
          </a:p>
        </p:txBody>
      </p:sp>
      <p:sp>
        <p:nvSpPr>
          <p:cNvPr id="172" name="Google Shape;172;p27"/>
          <p:cNvSpPr txBox="1"/>
          <p:nvPr/>
        </p:nvSpPr>
        <p:spPr>
          <a:xfrm>
            <a:off x="4149253" y="1006660"/>
            <a:ext cx="4149600" cy="111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100">
                <a:solidFill>
                  <a:srgbClr val="E5E1DA"/>
                </a:solidFill>
                <a:latin typeface="Lato"/>
                <a:ea typeface="Lato"/>
                <a:cs typeface="Lato"/>
                <a:sym typeface="Lato"/>
              </a:rPr>
              <a:t>Manual medical image analysis creates significant diagnostic bottlenecks, leading to delayed treatments and increased clinician burnout. By the start of 2026, healthcare providers are increasingly adopting AI to automate anomaly detection, ensuring faster, more accurate results that improve patient survival rates and efficiency</a:t>
            </a:r>
            <a:endParaRPr sz="1100">
              <a:solidFill>
                <a:srgbClr val="E5E1DA"/>
              </a:solidFill>
              <a:latin typeface="Lato"/>
              <a:ea typeface="Lato"/>
              <a:cs typeface="Lato"/>
              <a:sym typeface="Lato"/>
            </a:endParaRPr>
          </a:p>
        </p:txBody>
      </p:sp>
      <p:sp>
        <p:nvSpPr>
          <p:cNvPr id="173" name="Google Shape;173;p27"/>
          <p:cNvSpPr txBox="1"/>
          <p:nvPr/>
        </p:nvSpPr>
        <p:spPr>
          <a:xfrm>
            <a:off x="4149253" y="3609152"/>
            <a:ext cx="3483000" cy="2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300" b="1">
                <a:solidFill>
                  <a:srgbClr val="FFD944"/>
                </a:solidFill>
                <a:latin typeface="Lato"/>
                <a:ea typeface="Lato"/>
                <a:cs typeface="Lato"/>
                <a:sym typeface="Lato"/>
              </a:rPr>
              <a:t>How it impacts the user or client</a:t>
            </a:r>
            <a:endParaRPr sz="1300" b="1">
              <a:solidFill>
                <a:srgbClr val="FFD944"/>
              </a:solidFill>
              <a:latin typeface="Lato"/>
              <a:ea typeface="Lato"/>
              <a:cs typeface="Lato"/>
              <a:sym typeface="Lato"/>
            </a:endParaRPr>
          </a:p>
        </p:txBody>
      </p:sp>
      <p:sp>
        <p:nvSpPr>
          <p:cNvPr id="174" name="Google Shape;174;p27"/>
          <p:cNvSpPr txBox="1"/>
          <p:nvPr/>
        </p:nvSpPr>
        <p:spPr>
          <a:xfrm>
            <a:off x="4149253" y="3869754"/>
            <a:ext cx="4119900" cy="111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100">
                <a:solidFill>
                  <a:srgbClr val="E5E1DA"/>
                </a:solidFill>
                <a:latin typeface="Lato"/>
                <a:ea typeface="Lato"/>
                <a:cs typeface="Lato"/>
                <a:sym typeface="Lato"/>
              </a:rPr>
              <a:t>In</a:t>
            </a:r>
            <a:r>
              <a:rPr lang="en-GB" sz="900">
                <a:solidFill>
                  <a:schemeClr val="dk1"/>
                </a:solidFill>
                <a:latin typeface="Calibri"/>
                <a:ea typeface="Calibri"/>
                <a:cs typeface="Calibri"/>
                <a:sym typeface="Calibri"/>
              </a:rPr>
              <a:t> </a:t>
            </a:r>
            <a:r>
              <a:rPr lang="en-GB" sz="1100">
                <a:solidFill>
                  <a:srgbClr val="E5E1DA"/>
                </a:solidFill>
                <a:latin typeface="Lato"/>
                <a:ea typeface="Lato"/>
                <a:cs typeface="Lato"/>
                <a:sym typeface="Lato"/>
              </a:rPr>
              <a:t>2026, diagnostic delays cause irreversible health decline and massive financial loss for patients. For clinicians, the resulting workload triggers 80%+ burnout rates and fatigue-driven errors, compromising safety and forcing healthcare systems into a reactive, high-cost cycle of crisis management.</a:t>
            </a:r>
            <a:endParaRPr sz="1100">
              <a:solidFill>
                <a:srgbClr val="E5E1DA"/>
              </a:solidFill>
              <a:latin typeface="Lato"/>
              <a:ea typeface="Lato"/>
              <a:cs typeface="Lato"/>
              <a:sym typeface="Lato"/>
            </a:endParaRPr>
          </a:p>
        </p:txBody>
      </p:sp>
      <p:sp>
        <p:nvSpPr>
          <p:cNvPr id="175" name="Google Shape;175;p27"/>
          <p:cNvSpPr/>
          <p:nvPr/>
        </p:nvSpPr>
        <p:spPr>
          <a:xfrm>
            <a:off x="3687928" y="2558388"/>
            <a:ext cx="228600" cy="230328"/>
          </a:xfrm>
          <a:custGeom>
            <a:avLst/>
            <a:gdLst/>
            <a:ahLst/>
            <a:cxnLst/>
            <a:rect l="l" t="t" r="r" b="b"/>
            <a:pathLst>
              <a:path w="457200" h="460655" extrusionOk="0">
                <a:moveTo>
                  <a:pt x="0" y="0"/>
                </a:moveTo>
                <a:lnTo>
                  <a:pt x="457200" y="0"/>
                </a:lnTo>
                <a:lnTo>
                  <a:pt x="457200" y="460655"/>
                </a:lnTo>
                <a:lnTo>
                  <a:pt x="0" y="460655"/>
                </a:lnTo>
                <a:lnTo>
                  <a:pt x="0" y="0"/>
                </a:lnTo>
                <a:close/>
              </a:path>
            </a:pathLst>
          </a:custGeom>
          <a:blipFill rotWithShape="1">
            <a:blip r:embed="rId3" cstate="screen">
              <a:alphaModFix/>
              <a:extLst>
                <a:ext uri="{28A0092B-C50C-407E-A947-70E740481C1C}">
                  <a14:useLocalDpi xmlns:a14="http://schemas.microsoft.com/office/drawing/2010/main"/>
                </a:ext>
              </a:extLst>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76" name="Google Shape;176;p27"/>
          <p:cNvSpPr txBox="1"/>
          <p:nvPr/>
        </p:nvSpPr>
        <p:spPr>
          <a:xfrm>
            <a:off x="4179178" y="2191100"/>
            <a:ext cx="3597300" cy="2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300" b="1">
                <a:solidFill>
                  <a:srgbClr val="FFD944"/>
                </a:solidFill>
                <a:latin typeface="Lato"/>
                <a:ea typeface="Lato"/>
                <a:cs typeface="Lato"/>
                <a:sym typeface="Lato"/>
              </a:rPr>
              <a:t>How it manifests for the user or client</a:t>
            </a:r>
            <a:endParaRPr sz="1300" b="1">
              <a:solidFill>
                <a:srgbClr val="FFD944"/>
              </a:solidFill>
              <a:latin typeface="Lato"/>
              <a:ea typeface="Lato"/>
              <a:cs typeface="Lato"/>
              <a:sym typeface="Lato"/>
            </a:endParaRPr>
          </a:p>
        </p:txBody>
      </p:sp>
      <p:sp>
        <p:nvSpPr>
          <p:cNvPr id="177" name="Google Shape;177;p27"/>
          <p:cNvSpPr txBox="1"/>
          <p:nvPr/>
        </p:nvSpPr>
        <p:spPr>
          <a:xfrm>
            <a:off x="4149243" y="2424709"/>
            <a:ext cx="4149600" cy="111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100">
                <a:solidFill>
                  <a:srgbClr val="E5E1DA"/>
                </a:solidFill>
                <a:latin typeface="Lato"/>
                <a:ea typeface="Lato"/>
                <a:cs typeface="Lato"/>
                <a:sym typeface="Lato"/>
              </a:rPr>
              <a:t>Manual medical image analysis creates significant diagnostic bottlenecks, leading to delayed treatments and increased clinician burnout. By the start of 2026, healthcare providers are increasingly adopting AI to automate anomaly detection, ensuring faster, more accurate results that improve patient survival rates and efficiency</a:t>
            </a:r>
            <a:endParaRPr sz="1100">
              <a:solidFill>
                <a:srgbClr val="E5E1DA"/>
              </a:solidFill>
              <a:latin typeface="Lato"/>
              <a:ea typeface="Lato"/>
              <a:cs typeface="Lato"/>
              <a:sym typeface="Lato"/>
            </a:endParaRPr>
          </a:p>
        </p:txBody>
      </p:sp>
      <p:sp>
        <p:nvSpPr>
          <p:cNvPr id="178" name="Google Shape;178;p27"/>
          <p:cNvSpPr txBox="1"/>
          <p:nvPr/>
        </p:nvSpPr>
        <p:spPr>
          <a:xfrm>
            <a:off x="264924" y="4084950"/>
            <a:ext cx="32556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500" b="1" i="1">
                <a:solidFill>
                  <a:srgbClr val="F9CB9C"/>
                </a:solidFill>
                <a:latin typeface="Lato"/>
                <a:ea typeface="Lato"/>
                <a:cs typeface="Lato"/>
                <a:sym typeface="Lato"/>
              </a:rPr>
              <a:t>Note: This is just a sample for your understanding. Change it as per your details. Don’t change the header.</a:t>
            </a:r>
            <a:endParaRPr sz="1500" b="1" i="1">
              <a:solidFill>
                <a:srgbClr val="F9CB9C"/>
              </a:solidFill>
              <a:latin typeface="Lato"/>
              <a:ea typeface="Lato"/>
              <a:cs typeface="Lato"/>
              <a:sym typeface="Lato"/>
            </a:endParaRPr>
          </a:p>
        </p:txBody>
      </p:sp>
      <p:sp>
        <p:nvSpPr>
          <p:cNvPr id="179" name="Google Shape;179;p27"/>
          <p:cNvSpPr txBox="1"/>
          <p:nvPr/>
        </p:nvSpPr>
        <p:spPr>
          <a:xfrm rot="-1716536">
            <a:off x="2671807" y="2315211"/>
            <a:ext cx="6263410" cy="430943"/>
          </a:xfrm>
          <a:prstGeom prst="rect">
            <a:avLst/>
          </a:prstGeom>
          <a:solidFill>
            <a:srgbClr val="F2F2F2"/>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dirty="0">
                <a:solidFill>
                  <a:schemeClr val="dk1"/>
                </a:solidFill>
                <a:latin typeface="Calibri"/>
                <a:ea typeface="Calibri"/>
                <a:cs typeface="Calibri"/>
                <a:sym typeface="Calibri"/>
              </a:rPr>
              <a:t>SAMPLE for reference, please replace with your project details</a:t>
            </a:r>
            <a:endParaRPr sz="1600" b="1" dirty="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8B929125-1D37-9A68-8D72-D8FA22297818}"/>
              </a:ext>
            </a:extLst>
          </p:cNvPr>
          <p:cNvSpPr txBox="1"/>
          <p:nvPr/>
        </p:nvSpPr>
        <p:spPr>
          <a:xfrm>
            <a:off x="1348692" y="105261"/>
            <a:ext cx="1894114" cy="523220"/>
          </a:xfrm>
          <a:prstGeom prst="rect">
            <a:avLst/>
          </a:prstGeom>
          <a:noFill/>
        </p:spPr>
        <p:txBody>
          <a:bodyPr wrap="square" rtlCol="0">
            <a:spAutoFit/>
          </a:bodyPr>
          <a:lstStyle/>
          <a:p>
            <a:r>
              <a:rPr lang="en-US" dirty="0">
                <a:solidFill>
                  <a:schemeClr val="bg1"/>
                </a:solidFill>
              </a:rPr>
              <a:t>Copy It from your IDEA Submission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8">
          <a:extLst>
            <a:ext uri="{FF2B5EF4-FFF2-40B4-BE49-F238E27FC236}">
              <a16:creationId xmlns:a16="http://schemas.microsoft.com/office/drawing/2014/main" id="{D5E313CF-147C-BC39-CFEE-762148F147F6}"/>
            </a:ext>
          </a:extLst>
        </p:cNvPr>
        <p:cNvGrpSpPr/>
        <p:nvPr/>
      </p:nvGrpSpPr>
      <p:grpSpPr>
        <a:xfrm>
          <a:off x="0" y="0"/>
          <a:ext cx="0" cy="0"/>
          <a:chOff x="0" y="0"/>
          <a:chExt cx="0" cy="0"/>
        </a:xfrm>
      </p:grpSpPr>
      <p:sp>
        <p:nvSpPr>
          <p:cNvPr id="199" name="Google Shape;199;p29">
            <a:extLst>
              <a:ext uri="{FF2B5EF4-FFF2-40B4-BE49-F238E27FC236}">
                <a16:creationId xmlns:a16="http://schemas.microsoft.com/office/drawing/2014/main" id="{96F483E7-6063-D507-FF39-267A22C4D942}"/>
              </a:ext>
            </a:extLst>
          </p:cNvPr>
          <p:cNvSpPr/>
          <p:nvPr/>
        </p:nvSpPr>
        <p:spPr>
          <a:xfrm>
            <a:off x="0" y="18085"/>
            <a:ext cx="1996742" cy="5107332"/>
          </a:xfrm>
          <a:custGeom>
            <a:avLst/>
            <a:gdLst/>
            <a:ahLst/>
            <a:cxnLst/>
            <a:rect l="l" t="t" r="r" b="b"/>
            <a:pathLst>
              <a:path w="2551747" h="7035574" extrusionOk="0">
                <a:moveTo>
                  <a:pt x="2427287" y="7035574"/>
                </a:moveTo>
                <a:lnTo>
                  <a:pt x="124460" y="7035574"/>
                </a:lnTo>
                <a:cubicBezTo>
                  <a:pt x="55880" y="7035574"/>
                  <a:pt x="0" y="6979695"/>
                  <a:pt x="0" y="6911115"/>
                </a:cubicBezTo>
                <a:lnTo>
                  <a:pt x="0" y="124460"/>
                </a:lnTo>
                <a:cubicBezTo>
                  <a:pt x="0" y="55880"/>
                  <a:pt x="55880" y="0"/>
                  <a:pt x="124460" y="0"/>
                </a:cubicBezTo>
                <a:lnTo>
                  <a:pt x="2427287" y="0"/>
                </a:lnTo>
                <a:cubicBezTo>
                  <a:pt x="2495867" y="0"/>
                  <a:pt x="2551747" y="55880"/>
                  <a:pt x="2551747" y="124460"/>
                </a:cubicBezTo>
                <a:lnTo>
                  <a:pt x="2551747" y="6911115"/>
                </a:lnTo>
                <a:cubicBezTo>
                  <a:pt x="2551747" y="6979695"/>
                  <a:pt x="2495867" y="7035574"/>
                  <a:pt x="2427287" y="7035574"/>
                </a:cubicBezTo>
                <a:close/>
              </a:path>
            </a:pathLst>
          </a:custGeom>
          <a:solidFill>
            <a:srgbClr val="012B1B"/>
          </a:solidFill>
          <a:ln>
            <a:noFill/>
          </a:ln>
        </p:spPr>
        <p:txBody>
          <a:bodyPr spcFirstLastPara="1" wrap="square" lIns="45725" tIns="22850" rIns="45725" bIns="228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0" name="Google Shape;200;p29">
            <a:extLst>
              <a:ext uri="{FF2B5EF4-FFF2-40B4-BE49-F238E27FC236}">
                <a16:creationId xmlns:a16="http://schemas.microsoft.com/office/drawing/2014/main" id="{CB42BD53-3753-5684-7473-8EE3E70FC96D}"/>
              </a:ext>
            </a:extLst>
          </p:cNvPr>
          <p:cNvSpPr txBox="1"/>
          <p:nvPr/>
        </p:nvSpPr>
        <p:spPr>
          <a:xfrm>
            <a:off x="249991" y="3412770"/>
            <a:ext cx="1496700" cy="890700"/>
          </a:xfrm>
          <a:prstGeom prst="rect">
            <a:avLst/>
          </a:prstGeom>
          <a:noFill/>
          <a:ln>
            <a:noFill/>
          </a:ln>
        </p:spPr>
        <p:txBody>
          <a:bodyPr spcFirstLastPara="1" wrap="square" lIns="0" tIns="0" rIns="0" bIns="0" anchor="t" anchorCtr="0">
            <a:spAutoFit/>
          </a:bodyPr>
          <a:lstStyle/>
          <a:p>
            <a:pPr marL="241300" marR="0" lvl="1" indent="-120650" algn="l" defTabSz="914400" rtl="0" eaLnBrk="1" fontAlgn="auto" latinLnBrk="0" hangingPunct="1">
              <a:lnSpc>
                <a:spcPct val="142019"/>
              </a:lnSpc>
              <a:spcBef>
                <a:spcPts val="0"/>
              </a:spcBef>
              <a:spcAft>
                <a:spcPts val="0"/>
              </a:spcAft>
              <a:buClr>
                <a:srgbClr val="FFFFFF"/>
              </a:buClr>
              <a:buSzPts val="1100"/>
              <a:buFont typeface="Arial"/>
              <a:buChar char="•"/>
              <a:tabLst/>
              <a:defRPr/>
            </a:pPr>
            <a:r>
              <a:rPr kumimoji="0" lang="en-GB" sz="1100" b="0" i="0" u="none" strike="noStrike" kern="0" cap="none" spc="0" normalizeH="0" baseline="0" noProof="0">
                <a:ln>
                  <a:noFill/>
                </a:ln>
                <a:solidFill>
                  <a:srgbClr val="FFFFFF"/>
                </a:solidFill>
                <a:effectLst/>
                <a:uLnTx/>
                <a:uFillTx/>
                <a:latin typeface="Arial"/>
                <a:ea typeface="Arial"/>
                <a:cs typeface="Arial"/>
                <a:sym typeface="Arial"/>
              </a:rPr>
              <a:t>28 years old</a:t>
            </a:r>
            <a:endParaRPr kumimoji="0" sz="700" b="0" i="0" u="none" strike="noStrike" kern="0" cap="none" spc="0" normalizeH="0" baseline="0" noProof="0">
              <a:ln>
                <a:noFill/>
              </a:ln>
              <a:solidFill>
                <a:srgbClr val="000000"/>
              </a:solidFill>
              <a:effectLst/>
              <a:uLnTx/>
              <a:uFillTx/>
              <a:latin typeface="Arial"/>
              <a:cs typeface="Arial"/>
              <a:sym typeface="Arial"/>
            </a:endParaRPr>
          </a:p>
          <a:p>
            <a:pPr marL="241300" marR="0" lvl="1" indent="-120650" algn="l" defTabSz="914400" rtl="0" eaLnBrk="1" fontAlgn="auto" latinLnBrk="0" hangingPunct="1">
              <a:lnSpc>
                <a:spcPct val="142019"/>
              </a:lnSpc>
              <a:spcBef>
                <a:spcPts val="0"/>
              </a:spcBef>
              <a:spcAft>
                <a:spcPts val="0"/>
              </a:spcAft>
              <a:buClr>
                <a:srgbClr val="FFFFFF"/>
              </a:buClr>
              <a:buSzPts val="1100"/>
              <a:buFont typeface="Arial"/>
              <a:buChar char="•"/>
              <a:tabLst/>
              <a:defRPr/>
            </a:pPr>
            <a:r>
              <a:rPr kumimoji="0" lang="en-GB" sz="1100" b="0" i="0" u="none" strike="noStrike" kern="0" cap="none" spc="0" normalizeH="0" baseline="0" noProof="0">
                <a:ln>
                  <a:noFill/>
                </a:ln>
                <a:solidFill>
                  <a:srgbClr val="FFFFFF"/>
                </a:solidFill>
                <a:effectLst/>
                <a:uLnTx/>
                <a:uFillTx/>
                <a:latin typeface="Arial"/>
                <a:ea typeface="Arial"/>
                <a:cs typeface="Arial"/>
                <a:sym typeface="Arial"/>
              </a:rPr>
              <a:t>Salguerro</a:t>
            </a:r>
            <a:endParaRPr kumimoji="0" sz="1100" b="0" i="0" u="none" strike="noStrike" kern="0" cap="none" spc="0" normalizeH="0" baseline="0" noProof="0">
              <a:ln>
                <a:noFill/>
              </a:ln>
              <a:solidFill>
                <a:srgbClr val="FFFFFF"/>
              </a:solidFill>
              <a:effectLst/>
              <a:uLnTx/>
              <a:uFillTx/>
              <a:latin typeface="Arial"/>
              <a:ea typeface="Arial"/>
              <a:cs typeface="Arial"/>
              <a:sym typeface="Arial"/>
            </a:endParaRPr>
          </a:p>
          <a:p>
            <a:pPr marL="241300" marR="0" lvl="1" indent="-120650" algn="l" defTabSz="914400" rtl="0" eaLnBrk="1" fontAlgn="auto" latinLnBrk="0" hangingPunct="1">
              <a:lnSpc>
                <a:spcPct val="142019"/>
              </a:lnSpc>
              <a:spcBef>
                <a:spcPts val="0"/>
              </a:spcBef>
              <a:spcAft>
                <a:spcPts val="0"/>
              </a:spcAft>
              <a:buClr>
                <a:srgbClr val="FFFFFF"/>
              </a:buClr>
              <a:buSzPts val="1100"/>
              <a:buFont typeface="Arial"/>
              <a:buChar char="•"/>
              <a:tabLst/>
              <a:defRPr/>
            </a:pPr>
            <a:r>
              <a:rPr kumimoji="0" lang="en-GB" sz="1100" b="0" i="0" u="none" strike="noStrike" kern="0" cap="none" spc="0" normalizeH="0" baseline="0" noProof="0">
                <a:ln>
                  <a:noFill/>
                </a:ln>
                <a:solidFill>
                  <a:srgbClr val="FFFFFF"/>
                </a:solidFill>
                <a:effectLst/>
                <a:uLnTx/>
                <a:uFillTx/>
                <a:latin typeface="Arial"/>
                <a:ea typeface="Arial"/>
                <a:cs typeface="Arial"/>
                <a:sym typeface="Arial"/>
              </a:rPr>
              <a:t>Designer</a:t>
            </a:r>
            <a:endParaRPr kumimoji="0" sz="700" b="0" i="0" u="none" strike="noStrike" kern="0" cap="none" spc="0" normalizeH="0" baseline="0" noProof="0">
              <a:ln>
                <a:noFill/>
              </a:ln>
              <a:solidFill>
                <a:srgbClr val="000000"/>
              </a:solidFill>
              <a:effectLst/>
              <a:uLnTx/>
              <a:uFillTx/>
              <a:latin typeface="Arial"/>
              <a:cs typeface="Arial"/>
              <a:sym typeface="Arial"/>
            </a:endParaRPr>
          </a:p>
          <a:p>
            <a:pPr marL="241300" marR="0" lvl="1" indent="-120650" algn="l" defTabSz="914400" rtl="0" eaLnBrk="1" fontAlgn="auto" latinLnBrk="0" hangingPunct="1">
              <a:lnSpc>
                <a:spcPct val="142019"/>
              </a:lnSpc>
              <a:spcBef>
                <a:spcPts val="0"/>
              </a:spcBef>
              <a:spcAft>
                <a:spcPts val="0"/>
              </a:spcAft>
              <a:buClr>
                <a:srgbClr val="FFFFFF"/>
              </a:buClr>
              <a:buSzPts val="1100"/>
              <a:buFont typeface="Arial"/>
              <a:buChar char="•"/>
              <a:tabLst/>
              <a:defRPr/>
            </a:pPr>
            <a:r>
              <a:rPr kumimoji="0" lang="en-GB" sz="1100" b="0" i="0" u="none" strike="noStrike" kern="0" cap="none" spc="0" normalizeH="0" baseline="0" noProof="0">
                <a:ln>
                  <a:noFill/>
                </a:ln>
                <a:solidFill>
                  <a:srgbClr val="FFFFFF"/>
                </a:solidFill>
                <a:effectLst/>
                <a:uLnTx/>
                <a:uFillTx/>
                <a:latin typeface="Arial"/>
                <a:ea typeface="Arial"/>
                <a:cs typeface="Arial"/>
                <a:sym typeface="Arial"/>
              </a:rPr>
              <a:t>$45,000 - $139,999</a:t>
            </a:r>
            <a:endParaRPr kumimoji="0" sz="7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201;p29">
            <a:extLst>
              <a:ext uri="{FF2B5EF4-FFF2-40B4-BE49-F238E27FC236}">
                <a16:creationId xmlns:a16="http://schemas.microsoft.com/office/drawing/2014/main" id="{897E4031-3DA5-671A-EB0D-D8D3DEDC0CD1}"/>
              </a:ext>
            </a:extLst>
          </p:cNvPr>
          <p:cNvSpPr txBox="1"/>
          <p:nvPr/>
        </p:nvSpPr>
        <p:spPr>
          <a:xfrm>
            <a:off x="2595898" y="1163002"/>
            <a:ext cx="3508200" cy="10281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42000"/>
              </a:lnSpc>
              <a:spcBef>
                <a:spcPts val="0"/>
              </a:spcBef>
              <a:spcAft>
                <a:spcPts val="0"/>
              </a:spcAft>
              <a:buClr>
                <a:srgbClr val="000000"/>
              </a:buClr>
              <a:buSzTx/>
              <a:buFont typeface="Arial"/>
              <a:buNone/>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Derek is a confident graphic designer who runs his own freelance business. He works with writers, photographers, and other creative professionals to deliver captivating designs to clients. Derek dreams of growing his solopreneur venture into a design agency.</a:t>
            </a:r>
            <a:endParaRPr kumimoji="0" sz="700" b="0" i="0" u="none" strike="noStrike" kern="0" cap="none" spc="0" normalizeH="0" baseline="0" noProof="0">
              <a:ln>
                <a:noFill/>
              </a:ln>
              <a:solidFill>
                <a:srgbClr val="000000"/>
              </a:solidFill>
              <a:effectLst/>
              <a:uLnTx/>
              <a:uFillTx/>
              <a:latin typeface="Arial"/>
              <a:cs typeface="Arial"/>
              <a:sym typeface="Arial"/>
            </a:endParaRPr>
          </a:p>
        </p:txBody>
      </p:sp>
      <p:grpSp>
        <p:nvGrpSpPr>
          <p:cNvPr id="202" name="Google Shape;202;p29">
            <a:extLst>
              <a:ext uri="{FF2B5EF4-FFF2-40B4-BE49-F238E27FC236}">
                <a16:creationId xmlns:a16="http://schemas.microsoft.com/office/drawing/2014/main" id="{E64926B6-4DBF-00C0-7BB9-73410CAD4537}"/>
              </a:ext>
            </a:extLst>
          </p:cNvPr>
          <p:cNvGrpSpPr/>
          <p:nvPr/>
        </p:nvGrpSpPr>
        <p:grpSpPr>
          <a:xfrm>
            <a:off x="2434160" y="791787"/>
            <a:ext cx="3831127" cy="309441"/>
            <a:chOff x="0" y="-28575"/>
            <a:chExt cx="5385335" cy="434975"/>
          </a:xfrm>
        </p:grpSpPr>
        <p:sp>
          <p:nvSpPr>
            <p:cNvPr id="203" name="Google Shape;203;p29">
              <a:extLst>
                <a:ext uri="{FF2B5EF4-FFF2-40B4-BE49-F238E27FC236}">
                  <a16:creationId xmlns:a16="http://schemas.microsoft.com/office/drawing/2014/main" id="{A1BCD07B-6C73-5908-6EF9-28E0227E6EF6}"/>
                </a:ext>
              </a:extLst>
            </p:cNvPr>
            <p:cNvSpPr/>
            <p:nvPr/>
          </p:nvSpPr>
          <p:spPr>
            <a:xfrm>
              <a:off x="0" y="0"/>
              <a:ext cx="5385335" cy="406400"/>
            </a:xfrm>
            <a:custGeom>
              <a:avLst/>
              <a:gdLst/>
              <a:ahLst/>
              <a:cxnLst/>
              <a:rect l="l" t="t" r="r" b="b"/>
              <a:pathLst>
                <a:path w="5385335" h="406400" extrusionOk="0">
                  <a:moveTo>
                    <a:pt x="5182135" y="0"/>
                  </a:moveTo>
                  <a:cubicBezTo>
                    <a:pt x="5294359" y="0"/>
                    <a:pt x="5385335" y="90976"/>
                    <a:pt x="5385335" y="203200"/>
                  </a:cubicBezTo>
                  <a:cubicBezTo>
                    <a:pt x="5385335" y="315424"/>
                    <a:pt x="5294359" y="406400"/>
                    <a:pt x="5182135"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spcFirstLastPara="1" wrap="square" lIns="45725" tIns="22850" rIns="45725" bIns="228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4" name="Google Shape;204;p29">
              <a:extLst>
                <a:ext uri="{FF2B5EF4-FFF2-40B4-BE49-F238E27FC236}">
                  <a16:creationId xmlns:a16="http://schemas.microsoft.com/office/drawing/2014/main" id="{5106BF43-B7AF-9FFC-64E3-771486B29B1A}"/>
                </a:ext>
              </a:extLst>
            </p:cNvPr>
            <p:cNvSpPr txBox="1"/>
            <p:nvPr/>
          </p:nvSpPr>
          <p:spPr>
            <a:xfrm>
              <a:off x="0" y="-28575"/>
              <a:ext cx="5385335" cy="434975"/>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49888"/>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205" name="Google Shape;205;p29">
            <a:extLst>
              <a:ext uri="{FF2B5EF4-FFF2-40B4-BE49-F238E27FC236}">
                <a16:creationId xmlns:a16="http://schemas.microsoft.com/office/drawing/2014/main" id="{9FC4E7B8-B7D1-C6B8-533A-E3AD8018511A}"/>
              </a:ext>
            </a:extLst>
          </p:cNvPr>
          <p:cNvSpPr txBox="1"/>
          <p:nvPr/>
        </p:nvSpPr>
        <p:spPr>
          <a:xfrm>
            <a:off x="2595898" y="799523"/>
            <a:ext cx="3508200" cy="2154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0006"/>
              </a:lnSpc>
              <a:spcBef>
                <a:spcPts val="0"/>
              </a:spcBef>
              <a:spcAft>
                <a:spcPts val="0"/>
              </a:spcAft>
              <a:buClr>
                <a:srgbClr val="000000"/>
              </a:buClr>
              <a:buSzTx/>
              <a:buFont typeface="Arial"/>
              <a:buNone/>
              <a:tabLst/>
              <a:defRPr/>
            </a:pPr>
            <a:r>
              <a:rPr kumimoji="0" lang="en-GB" sz="1400" b="1" i="0" u="none" strike="noStrike" kern="0" cap="none" spc="0" normalizeH="0" baseline="0" noProof="0">
                <a:ln>
                  <a:noFill/>
                </a:ln>
                <a:solidFill>
                  <a:srgbClr val="BDFF72"/>
                </a:solidFill>
                <a:effectLst/>
                <a:uLnTx/>
                <a:uFillTx/>
                <a:latin typeface="Arial"/>
                <a:ea typeface="Arial"/>
                <a:cs typeface="Arial"/>
                <a:sym typeface="Arial"/>
              </a:rPr>
              <a:t>ABOUT THE USER</a:t>
            </a:r>
            <a:endParaRPr kumimoji="0" sz="700" b="0" i="0" u="none" strike="noStrike" kern="0" cap="none" spc="0" normalizeH="0" baseline="0" noProof="0">
              <a:ln>
                <a:noFill/>
              </a:ln>
              <a:solidFill>
                <a:srgbClr val="000000"/>
              </a:solidFill>
              <a:effectLst/>
              <a:uLnTx/>
              <a:uFillTx/>
              <a:latin typeface="Arial"/>
              <a:cs typeface="Arial"/>
              <a:sym typeface="Arial"/>
            </a:endParaRPr>
          </a:p>
        </p:txBody>
      </p:sp>
      <p:sp>
        <p:nvSpPr>
          <p:cNvPr id="206" name="Google Shape;206;p29">
            <a:extLst>
              <a:ext uri="{FF2B5EF4-FFF2-40B4-BE49-F238E27FC236}">
                <a16:creationId xmlns:a16="http://schemas.microsoft.com/office/drawing/2014/main" id="{6743EAD8-4F45-F7EB-9B07-C1458F8DE0D4}"/>
              </a:ext>
            </a:extLst>
          </p:cNvPr>
          <p:cNvSpPr txBox="1"/>
          <p:nvPr/>
        </p:nvSpPr>
        <p:spPr>
          <a:xfrm>
            <a:off x="6535426" y="1163002"/>
            <a:ext cx="1971300" cy="1028100"/>
          </a:xfrm>
          <a:prstGeom prst="rect">
            <a:avLst/>
          </a:prstGeom>
          <a:noFill/>
          <a:ln>
            <a:noFill/>
          </a:ln>
        </p:spPr>
        <p:txBody>
          <a:bodyPr spcFirstLastPara="1" wrap="square" lIns="0" tIns="0" rIns="0" bIns="0" anchor="t" anchorCtr="0">
            <a:spAutoFit/>
          </a:bodyPr>
          <a:lstStyle/>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Down-to-earth</a:t>
            </a:r>
            <a:endParaRPr kumimoji="0" sz="700" b="0" i="0" u="none" strike="noStrike" kern="0" cap="none" spc="0" normalizeH="0" baseline="0" noProof="0">
              <a:ln>
                <a:noFill/>
              </a:ln>
              <a:solidFill>
                <a:srgbClr val="000000"/>
              </a:solidFill>
              <a:effectLst/>
              <a:uLnTx/>
              <a:uFillTx/>
              <a:latin typeface="Arial"/>
              <a:cs typeface="Arial"/>
              <a:sym typeface="Arial"/>
            </a:endParaRPr>
          </a:p>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Easy-going</a:t>
            </a:r>
            <a:endParaRPr kumimoji="0" sz="700" b="0" i="0" u="none" strike="noStrike" kern="0" cap="none" spc="0" normalizeH="0" baseline="0" noProof="0">
              <a:ln>
                <a:noFill/>
              </a:ln>
              <a:solidFill>
                <a:srgbClr val="000000"/>
              </a:solidFill>
              <a:effectLst/>
              <a:uLnTx/>
              <a:uFillTx/>
              <a:latin typeface="Arial"/>
              <a:cs typeface="Arial"/>
              <a:sym typeface="Arial"/>
            </a:endParaRPr>
          </a:p>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Reliable</a:t>
            </a:r>
            <a:endParaRPr kumimoji="0" sz="700" b="0" i="0" u="none" strike="noStrike" kern="0" cap="none" spc="0" normalizeH="0" baseline="0" noProof="0">
              <a:ln>
                <a:noFill/>
              </a:ln>
              <a:solidFill>
                <a:srgbClr val="000000"/>
              </a:solidFill>
              <a:effectLst/>
              <a:uLnTx/>
              <a:uFillTx/>
              <a:latin typeface="Arial"/>
              <a:cs typeface="Arial"/>
              <a:sym typeface="Arial"/>
            </a:endParaRPr>
          </a:p>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Inspiring</a:t>
            </a:r>
            <a:endParaRPr kumimoji="0" sz="700" b="0" i="0" u="none" strike="noStrike" kern="0" cap="none" spc="0" normalizeH="0" baseline="0" noProof="0">
              <a:ln>
                <a:noFill/>
              </a:ln>
              <a:solidFill>
                <a:srgbClr val="000000"/>
              </a:solidFill>
              <a:effectLst/>
              <a:uLnTx/>
              <a:uFillTx/>
              <a:latin typeface="Arial"/>
              <a:cs typeface="Arial"/>
              <a:sym typeface="Arial"/>
            </a:endParaRPr>
          </a:p>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Problem solver</a:t>
            </a:r>
            <a:endParaRPr kumimoji="0" sz="700" b="0" i="0" u="none" strike="noStrike" kern="0" cap="none" spc="0" normalizeH="0" baseline="0" noProof="0">
              <a:ln>
                <a:noFill/>
              </a:ln>
              <a:solidFill>
                <a:srgbClr val="000000"/>
              </a:solidFill>
              <a:effectLst/>
              <a:uLnTx/>
              <a:uFillTx/>
              <a:latin typeface="Arial"/>
              <a:cs typeface="Arial"/>
              <a:sym typeface="Arial"/>
            </a:endParaRPr>
          </a:p>
        </p:txBody>
      </p:sp>
      <p:grpSp>
        <p:nvGrpSpPr>
          <p:cNvPr id="207" name="Google Shape;207;p29">
            <a:extLst>
              <a:ext uri="{FF2B5EF4-FFF2-40B4-BE49-F238E27FC236}">
                <a16:creationId xmlns:a16="http://schemas.microsoft.com/office/drawing/2014/main" id="{C3C04461-AC45-DF8B-62AB-39CE7924D32B}"/>
              </a:ext>
            </a:extLst>
          </p:cNvPr>
          <p:cNvGrpSpPr/>
          <p:nvPr/>
        </p:nvGrpSpPr>
        <p:grpSpPr>
          <a:xfrm>
            <a:off x="6449675" y="791787"/>
            <a:ext cx="2218070" cy="309441"/>
            <a:chOff x="0" y="-28575"/>
            <a:chExt cx="3117894" cy="434975"/>
          </a:xfrm>
        </p:grpSpPr>
        <p:sp>
          <p:nvSpPr>
            <p:cNvPr id="208" name="Google Shape;208;p29">
              <a:extLst>
                <a:ext uri="{FF2B5EF4-FFF2-40B4-BE49-F238E27FC236}">
                  <a16:creationId xmlns:a16="http://schemas.microsoft.com/office/drawing/2014/main" id="{219DDD83-7B4F-CDBF-2578-F43FAC660DD6}"/>
                </a:ext>
              </a:extLst>
            </p:cNvPr>
            <p:cNvSpPr/>
            <p:nvPr/>
          </p:nvSpPr>
          <p:spPr>
            <a:xfrm>
              <a:off x="0" y="0"/>
              <a:ext cx="3117894" cy="406400"/>
            </a:xfrm>
            <a:custGeom>
              <a:avLst/>
              <a:gdLst/>
              <a:ahLst/>
              <a:cxnLst/>
              <a:rect l="l" t="t" r="r" b="b"/>
              <a:pathLst>
                <a:path w="3117894" h="406400" extrusionOk="0">
                  <a:moveTo>
                    <a:pt x="2914694" y="0"/>
                  </a:moveTo>
                  <a:cubicBezTo>
                    <a:pt x="3026918" y="0"/>
                    <a:pt x="3117894" y="90976"/>
                    <a:pt x="3117894" y="203200"/>
                  </a:cubicBezTo>
                  <a:cubicBezTo>
                    <a:pt x="3117894" y="315424"/>
                    <a:pt x="3026918" y="406400"/>
                    <a:pt x="2914694"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spcFirstLastPara="1" wrap="square" lIns="45725" tIns="22850" rIns="45725" bIns="228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09" name="Google Shape;209;p29">
              <a:extLst>
                <a:ext uri="{FF2B5EF4-FFF2-40B4-BE49-F238E27FC236}">
                  <a16:creationId xmlns:a16="http://schemas.microsoft.com/office/drawing/2014/main" id="{278D5978-E64C-080E-2950-CC7B7835385B}"/>
                </a:ext>
              </a:extLst>
            </p:cNvPr>
            <p:cNvSpPr txBox="1"/>
            <p:nvPr/>
          </p:nvSpPr>
          <p:spPr>
            <a:xfrm>
              <a:off x="0" y="-28575"/>
              <a:ext cx="3117894" cy="434975"/>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49888"/>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210" name="Google Shape;210;p29">
            <a:extLst>
              <a:ext uri="{FF2B5EF4-FFF2-40B4-BE49-F238E27FC236}">
                <a16:creationId xmlns:a16="http://schemas.microsoft.com/office/drawing/2014/main" id="{CFAF3166-F72A-364C-0972-59B5DC187806}"/>
              </a:ext>
            </a:extLst>
          </p:cNvPr>
          <p:cNvSpPr txBox="1"/>
          <p:nvPr/>
        </p:nvSpPr>
        <p:spPr>
          <a:xfrm>
            <a:off x="6625629" y="799523"/>
            <a:ext cx="1881000" cy="2154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0006"/>
              </a:lnSpc>
              <a:spcBef>
                <a:spcPts val="0"/>
              </a:spcBef>
              <a:spcAft>
                <a:spcPts val="0"/>
              </a:spcAft>
              <a:buClr>
                <a:srgbClr val="000000"/>
              </a:buClr>
              <a:buSzTx/>
              <a:buFont typeface="Arial"/>
              <a:buNone/>
              <a:tabLst/>
              <a:defRPr/>
            </a:pPr>
            <a:r>
              <a:rPr kumimoji="0" lang="en-GB" sz="1400" b="1" i="0" u="none" strike="noStrike" kern="0" cap="none" spc="0" normalizeH="0" baseline="0" noProof="0">
                <a:ln>
                  <a:noFill/>
                </a:ln>
                <a:solidFill>
                  <a:srgbClr val="BDFF72"/>
                </a:solidFill>
                <a:effectLst/>
                <a:uLnTx/>
                <a:uFillTx/>
                <a:latin typeface="Arial"/>
                <a:ea typeface="Arial"/>
                <a:cs typeface="Arial"/>
                <a:sym typeface="Arial"/>
              </a:rPr>
              <a:t>ABOUT THE USER</a:t>
            </a:r>
            <a:endParaRPr kumimoji="0" sz="7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211;p29">
            <a:extLst>
              <a:ext uri="{FF2B5EF4-FFF2-40B4-BE49-F238E27FC236}">
                <a16:creationId xmlns:a16="http://schemas.microsoft.com/office/drawing/2014/main" id="{F68D90CE-D3CE-A5FB-FD6A-87DD8C01F7D9}"/>
              </a:ext>
            </a:extLst>
          </p:cNvPr>
          <p:cNvSpPr txBox="1"/>
          <p:nvPr/>
        </p:nvSpPr>
        <p:spPr>
          <a:xfrm>
            <a:off x="2505695" y="2788963"/>
            <a:ext cx="3598500" cy="591000"/>
          </a:xfrm>
          <a:prstGeom prst="rect">
            <a:avLst/>
          </a:prstGeom>
          <a:noFill/>
          <a:ln>
            <a:noFill/>
          </a:ln>
        </p:spPr>
        <p:txBody>
          <a:bodyPr spcFirstLastPara="1" wrap="square" lIns="0" tIns="0" rIns="0" bIns="0" anchor="t" anchorCtr="0">
            <a:spAutoFit/>
          </a:bodyPr>
          <a:lstStyle/>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Presenting his work to a wider audience</a:t>
            </a:r>
            <a:endParaRPr kumimoji="0" sz="700" b="0" i="0" u="none" strike="noStrike" kern="0" cap="none" spc="0" normalizeH="0" baseline="0" noProof="0">
              <a:ln>
                <a:noFill/>
              </a:ln>
              <a:solidFill>
                <a:srgbClr val="000000"/>
              </a:solidFill>
              <a:effectLst/>
              <a:uLnTx/>
              <a:uFillTx/>
              <a:latin typeface="Arial"/>
              <a:cs typeface="Arial"/>
              <a:sym typeface="Arial"/>
            </a:endParaRPr>
          </a:p>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Expressing his ideas in words</a:t>
            </a:r>
            <a:endParaRPr kumimoji="0" sz="700" b="0" i="0" u="none" strike="noStrike" kern="0" cap="none" spc="0" normalizeH="0" baseline="0" noProof="0">
              <a:ln>
                <a:noFill/>
              </a:ln>
              <a:solidFill>
                <a:srgbClr val="000000"/>
              </a:solidFill>
              <a:effectLst/>
              <a:uLnTx/>
              <a:uFillTx/>
              <a:latin typeface="Arial"/>
              <a:cs typeface="Arial"/>
              <a:sym typeface="Arial"/>
            </a:endParaRPr>
          </a:p>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Keeping his designs and freelancing business relevant</a:t>
            </a:r>
            <a:endParaRPr kumimoji="0" sz="700" b="0" i="0" u="none" strike="noStrike" kern="0" cap="none" spc="0" normalizeH="0" baseline="0" noProof="0">
              <a:ln>
                <a:noFill/>
              </a:ln>
              <a:solidFill>
                <a:srgbClr val="000000"/>
              </a:solidFill>
              <a:effectLst/>
              <a:uLnTx/>
              <a:uFillTx/>
              <a:latin typeface="Arial"/>
              <a:cs typeface="Arial"/>
              <a:sym typeface="Arial"/>
            </a:endParaRPr>
          </a:p>
        </p:txBody>
      </p:sp>
      <p:grpSp>
        <p:nvGrpSpPr>
          <p:cNvPr id="212" name="Google Shape;212;p29">
            <a:extLst>
              <a:ext uri="{FF2B5EF4-FFF2-40B4-BE49-F238E27FC236}">
                <a16:creationId xmlns:a16="http://schemas.microsoft.com/office/drawing/2014/main" id="{B0D990BE-D756-55D9-6B04-B7A7A79D3D7F}"/>
              </a:ext>
            </a:extLst>
          </p:cNvPr>
          <p:cNvGrpSpPr/>
          <p:nvPr/>
        </p:nvGrpSpPr>
        <p:grpSpPr>
          <a:xfrm>
            <a:off x="2434160" y="2412104"/>
            <a:ext cx="3831127" cy="309441"/>
            <a:chOff x="0" y="-28575"/>
            <a:chExt cx="5385335" cy="434975"/>
          </a:xfrm>
        </p:grpSpPr>
        <p:sp>
          <p:nvSpPr>
            <p:cNvPr id="213" name="Google Shape;213;p29">
              <a:extLst>
                <a:ext uri="{FF2B5EF4-FFF2-40B4-BE49-F238E27FC236}">
                  <a16:creationId xmlns:a16="http://schemas.microsoft.com/office/drawing/2014/main" id="{FAFF4469-2DFD-8B0F-EA73-1EA542C3782C}"/>
                </a:ext>
              </a:extLst>
            </p:cNvPr>
            <p:cNvSpPr/>
            <p:nvPr/>
          </p:nvSpPr>
          <p:spPr>
            <a:xfrm>
              <a:off x="0" y="0"/>
              <a:ext cx="5385335" cy="406400"/>
            </a:xfrm>
            <a:custGeom>
              <a:avLst/>
              <a:gdLst/>
              <a:ahLst/>
              <a:cxnLst/>
              <a:rect l="l" t="t" r="r" b="b"/>
              <a:pathLst>
                <a:path w="5385335" h="406400" extrusionOk="0">
                  <a:moveTo>
                    <a:pt x="5182135" y="0"/>
                  </a:moveTo>
                  <a:cubicBezTo>
                    <a:pt x="5294359" y="0"/>
                    <a:pt x="5385335" y="90976"/>
                    <a:pt x="5385335" y="203200"/>
                  </a:cubicBezTo>
                  <a:cubicBezTo>
                    <a:pt x="5385335" y="315424"/>
                    <a:pt x="5294359" y="406400"/>
                    <a:pt x="5182135"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spcFirstLastPara="1" wrap="square" lIns="45725" tIns="22850" rIns="45725" bIns="228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14" name="Google Shape;214;p29">
              <a:extLst>
                <a:ext uri="{FF2B5EF4-FFF2-40B4-BE49-F238E27FC236}">
                  <a16:creationId xmlns:a16="http://schemas.microsoft.com/office/drawing/2014/main" id="{5C4173C7-55BB-647D-DA3C-7A7111EB6354}"/>
                </a:ext>
              </a:extLst>
            </p:cNvPr>
            <p:cNvSpPr txBox="1"/>
            <p:nvPr/>
          </p:nvSpPr>
          <p:spPr>
            <a:xfrm>
              <a:off x="0" y="-28575"/>
              <a:ext cx="5385335" cy="434975"/>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49888"/>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grpSp>
        <p:nvGrpSpPr>
          <p:cNvPr id="215" name="Google Shape;215;p29">
            <a:extLst>
              <a:ext uri="{FF2B5EF4-FFF2-40B4-BE49-F238E27FC236}">
                <a16:creationId xmlns:a16="http://schemas.microsoft.com/office/drawing/2014/main" id="{9D1F74F9-03AA-C32E-62BC-A803D2B50C19}"/>
              </a:ext>
            </a:extLst>
          </p:cNvPr>
          <p:cNvGrpSpPr/>
          <p:nvPr/>
        </p:nvGrpSpPr>
        <p:grpSpPr>
          <a:xfrm>
            <a:off x="6449675" y="2412104"/>
            <a:ext cx="2218070" cy="309441"/>
            <a:chOff x="0" y="-28575"/>
            <a:chExt cx="3117894" cy="434975"/>
          </a:xfrm>
        </p:grpSpPr>
        <p:sp>
          <p:nvSpPr>
            <p:cNvPr id="216" name="Google Shape;216;p29">
              <a:extLst>
                <a:ext uri="{FF2B5EF4-FFF2-40B4-BE49-F238E27FC236}">
                  <a16:creationId xmlns:a16="http://schemas.microsoft.com/office/drawing/2014/main" id="{A13E0AB2-27F7-741D-D819-D31FA63D9D64}"/>
                </a:ext>
              </a:extLst>
            </p:cNvPr>
            <p:cNvSpPr/>
            <p:nvPr/>
          </p:nvSpPr>
          <p:spPr>
            <a:xfrm>
              <a:off x="0" y="0"/>
              <a:ext cx="3117894" cy="406400"/>
            </a:xfrm>
            <a:custGeom>
              <a:avLst/>
              <a:gdLst/>
              <a:ahLst/>
              <a:cxnLst/>
              <a:rect l="l" t="t" r="r" b="b"/>
              <a:pathLst>
                <a:path w="3117894" h="406400" extrusionOk="0">
                  <a:moveTo>
                    <a:pt x="2914694" y="0"/>
                  </a:moveTo>
                  <a:cubicBezTo>
                    <a:pt x="3026918" y="0"/>
                    <a:pt x="3117894" y="90976"/>
                    <a:pt x="3117894" y="203200"/>
                  </a:cubicBezTo>
                  <a:cubicBezTo>
                    <a:pt x="3117894" y="315424"/>
                    <a:pt x="3026918" y="406400"/>
                    <a:pt x="2914694"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spcFirstLastPara="1" wrap="square" lIns="45725" tIns="22850" rIns="45725" bIns="228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17" name="Google Shape;217;p29">
              <a:extLst>
                <a:ext uri="{FF2B5EF4-FFF2-40B4-BE49-F238E27FC236}">
                  <a16:creationId xmlns:a16="http://schemas.microsoft.com/office/drawing/2014/main" id="{38DB1E03-5A5C-6659-DA68-D2BAF3850F99}"/>
                </a:ext>
              </a:extLst>
            </p:cNvPr>
            <p:cNvSpPr txBox="1"/>
            <p:nvPr/>
          </p:nvSpPr>
          <p:spPr>
            <a:xfrm>
              <a:off x="0" y="-28575"/>
              <a:ext cx="3117894" cy="434975"/>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49888"/>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218" name="Google Shape;218;p29">
            <a:extLst>
              <a:ext uri="{FF2B5EF4-FFF2-40B4-BE49-F238E27FC236}">
                <a16:creationId xmlns:a16="http://schemas.microsoft.com/office/drawing/2014/main" id="{0228BFBA-2FC7-CBFD-30B7-FDC64E7819D4}"/>
              </a:ext>
            </a:extLst>
          </p:cNvPr>
          <p:cNvSpPr txBox="1"/>
          <p:nvPr/>
        </p:nvSpPr>
        <p:spPr>
          <a:xfrm>
            <a:off x="2595898" y="2425484"/>
            <a:ext cx="3508200" cy="2154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0006"/>
              </a:lnSpc>
              <a:spcBef>
                <a:spcPts val="0"/>
              </a:spcBef>
              <a:spcAft>
                <a:spcPts val="0"/>
              </a:spcAft>
              <a:buClr>
                <a:srgbClr val="000000"/>
              </a:buClr>
              <a:buSzTx/>
              <a:buFont typeface="Arial"/>
              <a:buNone/>
              <a:tabLst/>
              <a:defRPr/>
            </a:pPr>
            <a:r>
              <a:rPr kumimoji="0" lang="en-GB" sz="1400" b="1" i="0" u="none" strike="noStrike" kern="0" cap="none" spc="0" normalizeH="0" baseline="0" noProof="0">
                <a:ln>
                  <a:noFill/>
                </a:ln>
                <a:solidFill>
                  <a:srgbClr val="BDFF72"/>
                </a:solidFill>
                <a:effectLst/>
                <a:uLnTx/>
                <a:uFillTx/>
                <a:latin typeface="Arial"/>
                <a:ea typeface="Arial"/>
                <a:cs typeface="Arial"/>
                <a:sym typeface="Arial"/>
              </a:rPr>
              <a:t>PROBLEMS</a:t>
            </a:r>
            <a:endParaRPr kumimoji="0" sz="7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219;p29">
            <a:extLst>
              <a:ext uri="{FF2B5EF4-FFF2-40B4-BE49-F238E27FC236}">
                <a16:creationId xmlns:a16="http://schemas.microsoft.com/office/drawing/2014/main" id="{41032E46-CDE8-ED77-4564-D950A81DE49D}"/>
              </a:ext>
            </a:extLst>
          </p:cNvPr>
          <p:cNvSpPr txBox="1"/>
          <p:nvPr/>
        </p:nvSpPr>
        <p:spPr>
          <a:xfrm>
            <a:off x="2576220" y="4101334"/>
            <a:ext cx="3599100" cy="591000"/>
          </a:xfrm>
          <a:prstGeom prst="rect">
            <a:avLst/>
          </a:prstGeom>
          <a:noFill/>
          <a:ln>
            <a:noFill/>
          </a:ln>
        </p:spPr>
        <p:txBody>
          <a:bodyPr spcFirstLastPara="1" wrap="square" lIns="0" tIns="0" rIns="0" bIns="0" anchor="t" anchorCtr="0">
            <a:spAutoFit/>
          </a:bodyPr>
          <a:lstStyle/>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Following up with clients on feedback</a:t>
            </a:r>
            <a:endParaRPr kumimoji="0" sz="700" b="0" i="0" u="none" strike="noStrike" kern="0" cap="none" spc="0" normalizeH="0" baseline="0" noProof="0">
              <a:ln>
                <a:noFill/>
              </a:ln>
              <a:solidFill>
                <a:srgbClr val="000000"/>
              </a:solidFill>
              <a:effectLst/>
              <a:uLnTx/>
              <a:uFillTx/>
              <a:latin typeface="Arial"/>
              <a:cs typeface="Arial"/>
              <a:sym typeface="Arial"/>
            </a:endParaRPr>
          </a:p>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Billing clients on time</a:t>
            </a:r>
            <a:endParaRPr kumimoji="0" sz="700" b="0" i="0" u="none" strike="noStrike" kern="0" cap="none" spc="0" normalizeH="0" baseline="0" noProof="0">
              <a:ln>
                <a:noFill/>
              </a:ln>
              <a:solidFill>
                <a:srgbClr val="000000"/>
              </a:solidFill>
              <a:effectLst/>
              <a:uLnTx/>
              <a:uFillTx/>
              <a:latin typeface="Arial"/>
              <a:cs typeface="Arial"/>
              <a:sym typeface="Arial"/>
            </a:endParaRPr>
          </a:p>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Managing his notes, clippings, and resources</a:t>
            </a:r>
            <a:endParaRPr kumimoji="0" sz="700" b="0" i="0" u="none" strike="noStrike" kern="0" cap="none" spc="0" normalizeH="0" baseline="0" noProof="0">
              <a:ln>
                <a:noFill/>
              </a:ln>
              <a:solidFill>
                <a:srgbClr val="000000"/>
              </a:solidFill>
              <a:effectLst/>
              <a:uLnTx/>
              <a:uFillTx/>
              <a:latin typeface="Arial"/>
              <a:cs typeface="Arial"/>
              <a:sym typeface="Arial"/>
            </a:endParaRPr>
          </a:p>
        </p:txBody>
      </p:sp>
      <p:grpSp>
        <p:nvGrpSpPr>
          <p:cNvPr id="220" name="Google Shape;220;p29">
            <a:extLst>
              <a:ext uri="{FF2B5EF4-FFF2-40B4-BE49-F238E27FC236}">
                <a16:creationId xmlns:a16="http://schemas.microsoft.com/office/drawing/2014/main" id="{722AE365-4A22-A7D5-99A4-1F6B97B8C118}"/>
              </a:ext>
            </a:extLst>
          </p:cNvPr>
          <p:cNvGrpSpPr/>
          <p:nvPr/>
        </p:nvGrpSpPr>
        <p:grpSpPr>
          <a:xfrm>
            <a:off x="2505696" y="3730118"/>
            <a:ext cx="3831127" cy="309441"/>
            <a:chOff x="0" y="-28575"/>
            <a:chExt cx="5385335" cy="434975"/>
          </a:xfrm>
        </p:grpSpPr>
        <p:sp>
          <p:nvSpPr>
            <p:cNvPr id="221" name="Google Shape;221;p29">
              <a:extLst>
                <a:ext uri="{FF2B5EF4-FFF2-40B4-BE49-F238E27FC236}">
                  <a16:creationId xmlns:a16="http://schemas.microsoft.com/office/drawing/2014/main" id="{609F8A65-6E93-0764-53A1-64FA6C80A2B3}"/>
                </a:ext>
              </a:extLst>
            </p:cNvPr>
            <p:cNvSpPr/>
            <p:nvPr/>
          </p:nvSpPr>
          <p:spPr>
            <a:xfrm>
              <a:off x="0" y="0"/>
              <a:ext cx="5385335" cy="406400"/>
            </a:xfrm>
            <a:custGeom>
              <a:avLst/>
              <a:gdLst/>
              <a:ahLst/>
              <a:cxnLst/>
              <a:rect l="l" t="t" r="r" b="b"/>
              <a:pathLst>
                <a:path w="5385335" h="406400" extrusionOk="0">
                  <a:moveTo>
                    <a:pt x="5182135" y="0"/>
                  </a:moveTo>
                  <a:cubicBezTo>
                    <a:pt x="5294359" y="0"/>
                    <a:pt x="5385335" y="90976"/>
                    <a:pt x="5385335" y="203200"/>
                  </a:cubicBezTo>
                  <a:cubicBezTo>
                    <a:pt x="5385335" y="315424"/>
                    <a:pt x="5294359" y="406400"/>
                    <a:pt x="5182135" y="406400"/>
                  </a:cubicBezTo>
                  <a:lnTo>
                    <a:pt x="203200" y="406400"/>
                  </a:lnTo>
                  <a:cubicBezTo>
                    <a:pt x="90976" y="406400"/>
                    <a:pt x="0" y="315424"/>
                    <a:pt x="0" y="203200"/>
                  </a:cubicBezTo>
                  <a:cubicBezTo>
                    <a:pt x="0" y="90976"/>
                    <a:pt x="90976" y="0"/>
                    <a:pt x="203200" y="0"/>
                  </a:cubicBezTo>
                  <a:close/>
                </a:path>
              </a:pathLst>
            </a:custGeom>
            <a:solidFill>
              <a:srgbClr val="012B1B"/>
            </a:solidFill>
            <a:ln>
              <a:noFill/>
            </a:ln>
          </p:spPr>
          <p:txBody>
            <a:bodyPr spcFirstLastPara="1" wrap="square" lIns="45725" tIns="22850" rIns="45725" bIns="228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2" name="Google Shape;222;p29">
              <a:extLst>
                <a:ext uri="{FF2B5EF4-FFF2-40B4-BE49-F238E27FC236}">
                  <a16:creationId xmlns:a16="http://schemas.microsoft.com/office/drawing/2014/main" id="{5112CE0D-52DB-6EF5-6085-9C67673808E5}"/>
                </a:ext>
              </a:extLst>
            </p:cNvPr>
            <p:cNvSpPr txBox="1"/>
            <p:nvPr/>
          </p:nvSpPr>
          <p:spPr>
            <a:xfrm>
              <a:off x="0" y="-28575"/>
              <a:ext cx="5385335" cy="434975"/>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49888"/>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223" name="Google Shape;223;p29">
            <a:extLst>
              <a:ext uri="{FF2B5EF4-FFF2-40B4-BE49-F238E27FC236}">
                <a16:creationId xmlns:a16="http://schemas.microsoft.com/office/drawing/2014/main" id="{C8C0A9A0-E0E2-E847-E1D0-9D1BDFD2CE9D}"/>
              </a:ext>
            </a:extLst>
          </p:cNvPr>
          <p:cNvSpPr txBox="1"/>
          <p:nvPr/>
        </p:nvSpPr>
        <p:spPr>
          <a:xfrm>
            <a:off x="2667097" y="3737855"/>
            <a:ext cx="3508200" cy="2154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0006"/>
              </a:lnSpc>
              <a:spcBef>
                <a:spcPts val="0"/>
              </a:spcBef>
              <a:spcAft>
                <a:spcPts val="0"/>
              </a:spcAft>
              <a:buClr>
                <a:srgbClr val="000000"/>
              </a:buClr>
              <a:buSzTx/>
              <a:buFont typeface="Arial"/>
              <a:buNone/>
              <a:tabLst/>
              <a:defRPr/>
            </a:pPr>
            <a:r>
              <a:rPr kumimoji="0" lang="en-GB" sz="1400" b="1" i="0" u="none" strike="noStrike" kern="0" cap="none" spc="0" normalizeH="0" baseline="0" noProof="0">
                <a:ln>
                  <a:noFill/>
                </a:ln>
                <a:solidFill>
                  <a:srgbClr val="BDFF72"/>
                </a:solidFill>
                <a:effectLst/>
                <a:uLnTx/>
                <a:uFillTx/>
                <a:latin typeface="Arial"/>
                <a:ea typeface="Arial"/>
                <a:cs typeface="Arial"/>
                <a:sym typeface="Arial"/>
              </a:rPr>
              <a:t>CHALLENGES</a:t>
            </a:r>
            <a:endParaRPr kumimoji="0" sz="7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224;p29">
            <a:extLst>
              <a:ext uri="{FF2B5EF4-FFF2-40B4-BE49-F238E27FC236}">
                <a16:creationId xmlns:a16="http://schemas.microsoft.com/office/drawing/2014/main" id="{C62B2D98-05C5-B4FD-9494-E0F8D9C20675}"/>
              </a:ext>
            </a:extLst>
          </p:cNvPr>
          <p:cNvSpPr txBox="1"/>
          <p:nvPr/>
        </p:nvSpPr>
        <p:spPr>
          <a:xfrm>
            <a:off x="6588850" y="2788963"/>
            <a:ext cx="1864500" cy="1246800"/>
          </a:xfrm>
          <a:prstGeom prst="rect">
            <a:avLst/>
          </a:prstGeom>
          <a:noFill/>
          <a:ln>
            <a:noFill/>
          </a:ln>
        </p:spPr>
        <p:txBody>
          <a:bodyPr spcFirstLastPara="1" wrap="square" lIns="0" tIns="0" rIns="0" bIns="0" anchor="t" anchorCtr="0">
            <a:spAutoFit/>
          </a:bodyPr>
          <a:lstStyle/>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To express his creativity and vision to others</a:t>
            </a:r>
            <a:endParaRPr kumimoji="0" sz="700" b="0" i="0" u="none" strike="noStrike" kern="0" cap="none" spc="0" normalizeH="0" baseline="0" noProof="0">
              <a:ln>
                <a:noFill/>
              </a:ln>
              <a:solidFill>
                <a:srgbClr val="000000"/>
              </a:solidFill>
              <a:effectLst/>
              <a:uLnTx/>
              <a:uFillTx/>
              <a:latin typeface="Arial"/>
              <a:cs typeface="Arial"/>
              <a:sym typeface="Arial"/>
            </a:endParaRPr>
          </a:p>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To develop a successful freelance business</a:t>
            </a:r>
            <a:endParaRPr kumimoji="0" sz="700" b="0" i="0" u="none" strike="noStrike" kern="0" cap="none" spc="0" normalizeH="0" baseline="0" noProof="0">
              <a:ln>
                <a:noFill/>
              </a:ln>
              <a:solidFill>
                <a:srgbClr val="000000"/>
              </a:solidFill>
              <a:effectLst/>
              <a:uLnTx/>
              <a:uFillTx/>
              <a:latin typeface="Arial"/>
              <a:cs typeface="Arial"/>
              <a:sym typeface="Arial"/>
            </a:endParaRPr>
          </a:p>
          <a:p>
            <a:pPr marL="203200" marR="0" lvl="1" indent="-101600" algn="l" defTabSz="914400" rtl="0" eaLnBrk="1" fontAlgn="auto" latinLnBrk="0" hangingPunct="1">
              <a:lnSpc>
                <a:spcPct val="142000"/>
              </a:lnSpc>
              <a:spcBef>
                <a:spcPts val="0"/>
              </a:spcBef>
              <a:spcAft>
                <a:spcPts val="0"/>
              </a:spcAft>
              <a:buClr>
                <a:srgbClr val="000000"/>
              </a:buClr>
              <a:buSzPts val="1000"/>
              <a:buFont typeface="Arial"/>
              <a:buChar char="•"/>
              <a:tabLst/>
              <a:defRPr/>
            </a:pPr>
            <a:r>
              <a:rPr kumimoji="0" lang="en-GB" sz="1000" b="0" i="0" u="none" strike="noStrike" kern="0" cap="none" spc="0" normalizeH="0" baseline="0" noProof="0">
                <a:ln>
                  <a:noFill/>
                </a:ln>
                <a:solidFill>
                  <a:srgbClr val="000000"/>
                </a:solidFill>
                <a:effectLst/>
                <a:uLnTx/>
                <a:uFillTx/>
                <a:latin typeface="Arial"/>
                <a:ea typeface="Arial"/>
                <a:cs typeface="Arial"/>
                <a:sym typeface="Arial"/>
              </a:rPr>
              <a:t>To find inspiration from the world around him</a:t>
            </a:r>
            <a:endParaRPr kumimoji="0" sz="7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225;p29">
            <a:extLst>
              <a:ext uri="{FF2B5EF4-FFF2-40B4-BE49-F238E27FC236}">
                <a16:creationId xmlns:a16="http://schemas.microsoft.com/office/drawing/2014/main" id="{94D3FCCF-612F-3AF2-2011-DABF8615BEC2}"/>
              </a:ext>
            </a:extLst>
          </p:cNvPr>
          <p:cNvSpPr txBox="1"/>
          <p:nvPr/>
        </p:nvSpPr>
        <p:spPr>
          <a:xfrm>
            <a:off x="6625629" y="2430246"/>
            <a:ext cx="1864500" cy="2154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20006"/>
              </a:lnSpc>
              <a:spcBef>
                <a:spcPts val="0"/>
              </a:spcBef>
              <a:spcAft>
                <a:spcPts val="0"/>
              </a:spcAft>
              <a:buClr>
                <a:srgbClr val="000000"/>
              </a:buClr>
              <a:buSzTx/>
              <a:buFont typeface="Arial"/>
              <a:buNone/>
              <a:tabLst/>
              <a:defRPr/>
            </a:pPr>
            <a:r>
              <a:rPr kumimoji="0" lang="en-GB" sz="1400" b="1" i="0" u="none" strike="noStrike" kern="0" cap="none" spc="0" normalizeH="0" baseline="0" noProof="0">
                <a:ln>
                  <a:noFill/>
                </a:ln>
                <a:solidFill>
                  <a:srgbClr val="BDFF72"/>
                </a:solidFill>
                <a:effectLst/>
                <a:uLnTx/>
                <a:uFillTx/>
                <a:latin typeface="Arial"/>
                <a:ea typeface="Arial"/>
                <a:cs typeface="Arial"/>
                <a:sym typeface="Arial"/>
              </a:rPr>
              <a:t>GOALS AND NEEDS</a:t>
            </a:r>
            <a:endParaRPr kumimoji="0" sz="700" b="0" i="0" u="none" strike="noStrike" kern="0" cap="none" spc="0" normalizeH="0" baseline="0" noProof="0">
              <a:ln>
                <a:noFill/>
              </a:ln>
              <a:solidFill>
                <a:srgbClr val="000000"/>
              </a:solidFill>
              <a:effectLst/>
              <a:uLnTx/>
              <a:uFillTx/>
              <a:latin typeface="Arial"/>
              <a:cs typeface="Arial"/>
              <a:sym typeface="Arial"/>
            </a:endParaRPr>
          </a:p>
        </p:txBody>
      </p:sp>
      <p:grpSp>
        <p:nvGrpSpPr>
          <p:cNvPr id="226" name="Google Shape;226;p29">
            <a:extLst>
              <a:ext uri="{FF2B5EF4-FFF2-40B4-BE49-F238E27FC236}">
                <a16:creationId xmlns:a16="http://schemas.microsoft.com/office/drawing/2014/main" id="{120F4B5B-35A9-538D-CCD5-B843F490EF10}"/>
              </a:ext>
            </a:extLst>
          </p:cNvPr>
          <p:cNvGrpSpPr/>
          <p:nvPr/>
        </p:nvGrpSpPr>
        <p:grpSpPr>
          <a:xfrm>
            <a:off x="255186" y="2807244"/>
            <a:ext cx="1486343" cy="472872"/>
            <a:chOff x="0" y="-82839"/>
            <a:chExt cx="3963580" cy="1260992"/>
          </a:xfrm>
        </p:grpSpPr>
        <p:grpSp>
          <p:nvGrpSpPr>
            <p:cNvPr id="227" name="Google Shape;227;p29">
              <a:extLst>
                <a:ext uri="{FF2B5EF4-FFF2-40B4-BE49-F238E27FC236}">
                  <a16:creationId xmlns:a16="http://schemas.microsoft.com/office/drawing/2014/main" id="{FA8198FC-33F4-602E-3E8C-9DC98BE755C1}"/>
                </a:ext>
              </a:extLst>
            </p:cNvPr>
            <p:cNvGrpSpPr/>
            <p:nvPr/>
          </p:nvGrpSpPr>
          <p:grpSpPr>
            <a:xfrm>
              <a:off x="0" y="-82839"/>
              <a:ext cx="3963580" cy="1260992"/>
              <a:chOff x="0" y="-28575"/>
              <a:chExt cx="1367224" cy="434975"/>
            </a:xfrm>
          </p:grpSpPr>
          <p:sp>
            <p:nvSpPr>
              <p:cNvPr id="228" name="Google Shape;228;p29">
                <a:extLst>
                  <a:ext uri="{FF2B5EF4-FFF2-40B4-BE49-F238E27FC236}">
                    <a16:creationId xmlns:a16="http://schemas.microsoft.com/office/drawing/2014/main" id="{9195507B-92CD-E57C-15D7-FF5F376535FB}"/>
                  </a:ext>
                </a:extLst>
              </p:cNvPr>
              <p:cNvSpPr/>
              <p:nvPr/>
            </p:nvSpPr>
            <p:spPr>
              <a:xfrm>
                <a:off x="0" y="0"/>
                <a:ext cx="1367224" cy="406400"/>
              </a:xfrm>
              <a:custGeom>
                <a:avLst/>
                <a:gdLst/>
                <a:ahLst/>
                <a:cxnLst/>
                <a:rect l="l" t="t" r="r" b="b"/>
                <a:pathLst>
                  <a:path w="1367224" h="406400" extrusionOk="0">
                    <a:moveTo>
                      <a:pt x="1164024" y="0"/>
                    </a:moveTo>
                    <a:cubicBezTo>
                      <a:pt x="1276248" y="0"/>
                      <a:pt x="1367224" y="90976"/>
                      <a:pt x="1367224" y="203200"/>
                    </a:cubicBezTo>
                    <a:cubicBezTo>
                      <a:pt x="1367224" y="315424"/>
                      <a:pt x="1276248" y="406400"/>
                      <a:pt x="1164024" y="406400"/>
                    </a:cubicBezTo>
                    <a:lnTo>
                      <a:pt x="203200" y="406400"/>
                    </a:lnTo>
                    <a:cubicBezTo>
                      <a:pt x="90976" y="406400"/>
                      <a:pt x="0" y="315424"/>
                      <a:pt x="0" y="203200"/>
                    </a:cubicBezTo>
                    <a:cubicBezTo>
                      <a:pt x="0" y="90976"/>
                      <a:pt x="90976" y="0"/>
                      <a:pt x="203200" y="0"/>
                    </a:cubicBezTo>
                    <a:close/>
                  </a:path>
                </a:pathLst>
              </a:custGeom>
              <a:solidFill>
                <a:srgbClr val="BDFF72"/>
              </a:solidFill>
              <a:ln>
                <a:noFill/>
              </a:ln>
            </p:spPr>
            <p:txBody>
              <a:bodyPr spcFirstLastPara="1" wrap="square" lIns="45725" tIns="22850" rIns="45725" bIns="2285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29" name="Google Shape;229;p29">
                <a:extLst>
                  <a:ext uri="{FF2B5EF4-FFF2-40B4-BE49-F238E27FC236}">
                    <a16:creationId xmlns:a16="http://schemas.microsoft.com/office/drawing/2014/main" id="{2051D36F-F78B-B7E4-1415-B964AE585C20}"/>
                  </a:ext>
                </a:extLst>
              </p:cNvPr>
              <p:cNvSpPr txBox="1"/>
              <p:nvPr/>
            </p:nvSpPr>
            <p:spPr>
              <a:xfrm>
                <a:off x="0" y="-28575"/>
                <a:ext cx="1367224" cy="434975"/>
              </a:xfrm>
              <a:prstGeom prst="rect">
                <a:avLst/>
              </a:prstGeom>
              <a:noFill/>
              <a:ln>
                <a:noFill/>
              </a:ln>
            </p:spPr>
            <p:txBody>
              <a:bodyPr spcFirstLastPara="1" wrap="square" lIns="25400" tIns="25400" rIns="25400" bIns="25400" anchor="ctr" anchorCtr="0">
                <a:noAutofit/>
              </a:bodyPr>
              <a:lstStyle/>
              <a:p>
                <a:pPr marL="0" marR="0" lvl="0" indent="0" algn="ctr" defTabSz="914400" rtl="0" eaLnBrk="1" fontAlgn="auto" latinLnBrk="0" hangingPunct="1">
                  <a:lnSpc>
                    <a:spcPct val="149888"/>
                  </a:lnSpc>
                  <a:spcBef>
                    <a:spcPts val="0"/>
                  </a:spcBef>
                  <a:spcAft>
                    <a:spcPts val="0"/>
                  </a:spcAft>
                  <a:buClr>
                    <a:srgbClr val="000000"/>
                  </a:buClr>
                  <a:buSzTx/>
                  <a:buFont typeface="Arial"/>
                  <a:buNone/>
                  <a:tabLst/>
                  <a:defRPr/>
                </a:pPr>
                <a:endParaRPr kumimoji="0" sz="9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230" name="Google Shape;230;p29">
              <a:extLst>
                <a:ext uri="{FF2B5EF4-FFF2-40B4-BE49-F238E27FC236}">
                  <a16:creationId xmlns:a16="http://schemas.microsoft.com/office/drawing/2014/main" id="{618B91A8-F91C-19A7-43C5-789436C97A7F}"/>
                </a:ext>
              </a:extLst>
            </p:cNvPr>
            <p:cNvSpPr txBox="1"/>
            <p:nvPr/>
          </p:nvSpPr>
          <p:spPr>
            <a:xfrm>
              <a:off x="346387" y="81113"/>
              <a:ext cx="3243000" cy="903000"/>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20004"/>
                </a:lnSpc>
                <a:spcBef>
                  <a:spcPts val="0"/>
                </a:spcBef>
                <a:spcAft>
                  <a:spcPts val="0"/>
                </a:spcAft>
                <a:buClr>
                  <a:srgbClr val="000000"/>
                </a:buClr>
                <a:buSzTx/>
                <a:buFont typeface="Arial"/>
                <a:buNone/>
                <a:tabLst/>
                <a:defRPr/>
              </a:pPr>
              <a:r>
                <a:rPr kumimoji="0" lang="en-GB" sz="2200" b="1" i="0" u="none" strike="noStrike" kern="0" cap="none" spc="0" normalizeH="0" baseline="0" noProof="0">
                  <a:ln>
                    <a:noFill/>
                  </a:ln>
                  <a:solidFill>
                    <a:srgbClr val="012B1B"/>
                  </a:solidFill>
                  <a:effectLst/>
                  <a:uLnTx/>
                  <a:uFillTx/>
                  <a:latin typeface="Arial"/>
                  <a:ea typeface="Arial"/>
                  <a:cs typeface="Arial"/>
                  <a:sym typeface="Arial"/>
                </a:rPr>
                <a:t>DEREK</a:t>
              </a:r>
              <a:endParaRPr kumimoji="0" sz="700" b="0" i="0" u="none" strike="noStrike" kern="0" cap="none" spc="0" normalizeH="0" baseline="0" noProof="0">
                <a:ln>
                  <a:noFill/>
                </a:ln>
                <a:solidFill>
                  <a:srgbClr val="000000"/>
                </a:solidFill>
                <a:effectLst/>
                <a:uLnTx/>
                <a:uFillTx/>
                <a:latin typeface="Arial"/>
                <a:cs typeface="Arial"/>
                <a:sym typeface="Arial"/>
              </a:endParaRPr>
            </a:p>
          </p:txBody>
        </p:sp>
      </p:grpSp>
      <p:pic>
        <p:nvPicPr>
          <p:cNvPr id="231" name="Google Shape;231;p29">
            <a:extLst>
              <a:ext uri="{FF2B5EF4-FFF2-40B4-BE49-F238E27FC236}">
                <a16:creationId xmlns:a16="http://schemas.microsoft.com/office/drawing/2014/main" id="{B0B803AF-FA27-A899-22AC-7D0A2C8BD63F}"/>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55186" y="867493"/>
            <a:ext cx="1486343" cy="1807080"/>
          </a:xfrm>
          <a:prstGeom prst="rect">
            <a:avLst/>
          </a:prstGeom>
          <a:noFill/>
          <a:ln>
            <a:noFill/>
          </a:ln>
        </p:spPr>
      </p:pic>
      <p:sp>
        <p:nvSpPr>
          <p:cNvPr id="232" name="Google Shape;232;p29">
            <a:extLst>
              <a:ext uri="{FF2B5EF4-FFF2-40B4-BE49-F238E27FC236}">
                <a16:creationId xmlns:a16="http://schemas.microsoft.com/office/drawing/2014/main" id="{D5F86C99-05C6-4096-FB0F-1D9EADD0F1E3}"/>
              </a:ext>
            </a:extLst>
          </p:cNvPr>
          <p:cNvSpPr txBox="1"/>
          <p:nvPr/>
        </p:nvSpPr>
        <p:spPr>
          <a:xfrm>
            <a:off x="3791408" y="165041"/>
            <a:ext cx="3879300" cy="5079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0000"/>
              </a:lnSpc>
              <a:spcBef>
                <a:spcPts val="0"/>
              </a:spcBef>
              <a:spcAft>
                <a:spcPts val="0"/>
              </a:spcAft>
              <a:buClr>
                <a:srgbClr val="000000"/>
              </a:buClr>
              <a:buSzTx/>
              <a:buFont typeface="Arial"/>
              <a:buNone/>
              <a:tabLst/>
              <a:defRPr/>
            </a:pPr>
            <a:r>
              <a:rPr kumimoji="0" lang="en-GB" sz="3300" b="1" i="0" u="none" strike="noStrike" kern="0" cap="none" spc="0" normalizeH="0" baseline="0" noProof="0" dirty="0">
                <a:ln>
                  <a:noFill/>
                </a:ln>
                <a:solidFill>
                  <a:srgbClr val="000000"/>
                </a:solidFill>
                <a:effectLst/>
                <a:uLnTx/>
                <a:uFillTx/>
                <a:latin typeface="Poppins"/>
                <a:ea typeface="Poppins"/>
                <a:cs typeface="Poppins"/>
                <a:sym typeface="Poppins"/>
              </a:rPr>
              <a:t>USER PERSONA 1</a:t>
            </a:r>
            <a:endParaRPr kumimoji="0" sz="700" b="0" i="0" u="none" strike="noStrike" kern="0" cap="none" spc="0" normalizeH="0" baseline="0" noProof="0" dirty="0">
              <a:ln>
                <a:noFill/>
              </a:ln>
              <a:solidFill>
                <a:srgbClr val="000000"/>
              </a:solidFill>
              <a:effectLst/>
              <a:uLnTx/>
              <a:uFillTx/>
              <a:latin typeface="Arial"/>
              <a:cs typeface="Arial"/>
              <a:sym typeface="Arial"/>
            </a:endParaRPr>
          </a:p>
        </p:txBody>
      </p:sp>
      <p:pic>
        <p:nvPicPr>
          <p:cNvPr id="233" name="Google Shape;233;p29" title="Witch Hunt finalized logo-modified.png">
            <a:extLst>
              <a:ext uri="{FF2B5EF4-FFF2-40B4-BE49-F238E27FC236}">
                <a16:creationId xmlns:a16="http://schemas.microsoft.com/office/drawing/2014/main" id="{5ADDB118-E0B5-3491-4687-228EA718B45C}"/>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29475" y="110938"/>
            <a:ext cx="680849" cy="680849"/>
          </a:xfrm>
          <a:prstGeom prst="rect">
            <a:avLst/>
          </a:prstGeom>
          <a:noFill/>
          <a:ln>
            <a:noFill/>
          </a:ln>
        </p:spPr>
      </p:pic>
      <p:sp>
        <p:nvSpPr>
          <p:cNvPr id="234" name="Google Shape;234;p29">
            <a:extLst>
              <a:ext uri="{FF2B5EF4-FFF2-40B4-BE49-F238E27FC236}">
                <a16:creationId xmlns:a16="http://schemas.microsoft.com/office/drawing/2014/main" id="{0198B07F-C125-820D-D17B-C1BF312737A5}"/>
              </a:ext>
            </a:extLst>
          </p:cNvPr>
          <p:cNvSpPr txBox="1"/>
          <p:nvPr/>
        </p:nvSpPr>
        <p:spPr>
          <a:xfrm rot="-1716536">
            <a:off x="2226514" y="2049069"/>
            <a:ext cx="6263410" cy="430943"/>
          </a:xfrm>
          <a:prstGeom prst="rect">
            <a:avLst/>
          </a:prstGeom>
          <a:solidFill>
            <a:srgbClr val="F2F2F2"/>
          </a:solidFill>
          <a:ln>
            <a:noFill/>
          </a:ln>
        </p:spPr>
        <p:txBody>
          <a:bodyPr spcFirstLastPara="1" wrap="square" lIns="91425" tIns="91425" rIns="91425" bIns="91425"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GB" sz="1600" b="1" i="0" u="none" strike="noStrike" kern="0" cap="none" spc="0" normalizeH="0" baseline="0" noProof="0">
                <a:ln>
                  <a:noFill/>
                </a:ln>
                <a:solidFill>
                  <a:srgbClr val="000000"/>
                </a:solidFill>
                <a:effectLst/>
                <a:uLnTx/>
                <a:uFillTx/>
                <a:latin typeface="Calibri"/>
                <a:ea typeface="Calibri"/>
                <a:cs typeface="Calibri"/>
                <a:sym typeface="Calibri"/>
              </a:rPr>
              <a:t>SAMPLE for reference, please replace with your project details</a:t>
            </a:r>
            <a:endParaRPr kumimoji="0" sz="1600" b="1"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2" name="TextBox 1">
            <a:extLst>
              <a:ext uri="{FF2B5EF4-FFF2-40B4-BE49-F238E27FC236}">
                <a16:creationId xmlns:a16="http://schemas.microsoft.com/office/drawing/2014/main" id="{3FCE706E-4CDC-8821-5E71-7A032994E2F5}"/>
              </a:ext>
            </a:extLst>
          </p:cNvPr>
          <p:cNvSpPr txBox="1"/>
          <p:nvPr/>
        </p:nvSpPr>
        <p:spPr>
          <a:xfrm>
            <a:off x="1988240" y="18084"/>
            <a:ext cx="4865914" cy="230832"/>
          </a:xfrm>
          <a:prstGeom prst="rect">
            <a:avLst/>
          </a:prstGeom>
          <a:noFill/>
        </p:spPr>
        <p:txBody>
          <a:bodyPr wrap="square" rtlCol="0">
            <a:spAutoFit/>
          </a:bodyPr>
          <a:lstStyle/>
          <a:p>
            <a:r>
              <a:rPr lang="en-US" sz="900" dirty="0"/>
              <a:t>Copy the Persona for whom you are making the solution</a:t>
            </a:r>
          </a:p>
        </p:txBody>
      </p:sp>
    </p:spTree>
    <p:extLst>
      <p:ext uri="{BB962C8B-B14F-4D97-AF65-F5344CB8AC3E}">
        <p14:creationId xmlns:p14="http://schemas.microsoft.com/office/powerpoint/2010/main" val="1174713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83"/>
        <p:cNvGrpSpPr/>
        <p:nvPr/>
      </p:nvGrpSpPr>
      <p:grpSpPr>
        <a:xfrm>
          <a:off x="0" y="0"/>
          <a:ext cx="0" cy="0"/>
          <a:chOff x="0" y="0"/>
          <a:chExt cx="0" cy="0"/>
        </a:xfrm>
      </p:grpSpPr>
      <p:sp>
        <p:nvSpPr>
          <p:cNvPr id="184" name="Google Shape;184;p28"/>
          <p:cNvSpPr/>
          <p:nvPr/>
        </p:nvSpPr>
        <p:spPr>
          <a:xfrm>
            <a:off x="5765413" y="575"/>
            <a:ext cx="3451296" cy="5142356"/>
          </a:xfrm>
          <a:custGeom>
            <a:avLst/>
            <a:gdLst/>
            <a:ahLst/>
            <a:cxnLst/>
            <a:rect l="l" t="t" r="r" b="b"/>
            <a:pathLst>
              <a:path w="950116" h="1415652" extrusionOk="0">
                <a:moveTo>
                  <a:pt x="0" y="0"/>
                </a:moveTo>
                <a:lnTo>
                  <a:pt x="950116" y="0"/>
                </a:lnTo>
                <a:lnTo>
                  <a:pt x="950116" y="1415652"/>
                </a:lnTo>
                <a:lnTo>
                  <a:pt x="0" y="1415652"/>
                </a:lnTo>
                <a:close/>
              </a:path>
            </a:pathLst>
          </a:custGeom>
          <a:blipFill rotWithShape="1">
            <a:blip r:embed="rId3" cstate="screen">
              <a:alphaModFix/>
              <a:extLst>
                <a:ext uri="{28A0092B-C50C-407E-A947-70E740481C1C}">
                  <a14:useLocalDpi xmlns:a14="http://schemas.microsoft.com/office/drawing/2010/main"/>
                </a:ext>
              </a:extLst>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grpSp>
        <p:nvGrpSpPr>
          <p:cNvPr id="185" name="Google Shape;185;p28"/>
          <p:cNvGrpSpPr/>
          <p:nvPr/>
        </p:nvGrpSpPr>
        <p:grpSpPr>
          <a:xfrm>
            <a:off x="713750" y="1146150"/>
            <a:ext cx="6089128" cy="3663836"/>
            <a:chOff x="0" y="-38100"/>
            <a:chExt cx="3312549" cy="2181244"/>
          </a:xfrm>
        </p:grpSpPr>
        <p:sp>
          <p:nvSpPr>
            <p:cNvPr id="186" name="Google Shape;186;p28"/>
            <p:cNvSpPr/>
            <p:nvPr/>
          </p:nvSpPr>
          <p:spPr>
            <a:xfrm>
              <a:off x="0" y="0"/>
              <a:ext cx="3312549" cy="2143144"/>
            </a:xfrm>
            <a:custGeom>
              <a:avLst/>
              <a:gdLst/>
              <a:ahLst/>
              <a:cxnLst/>
              <a:rect l="l" t="t" r="r" b="b"/>
              <a:pathLst>
                <a:path w="3312549" h="2143144" extrusionOk="0">
                  <a:moveTo>
                    <a:pt x="12311" y="0"/>
                  </a:moveTo>
                  <a:lnTo>
                    <a:pt x="3300238" y="0"/>
                  </a:lnTo>
                  <a:cubicBezTo>
                    <a:pt x="3307037" y="0"/>
                    <a:pt x="3312549" y="5512"/>
                    <a:pt x="3312549" y="12311"/>
                  </a:cubicBezTo>
                  <a:lnTo>
                    <a:pt x="3312549" y="2130834"/>
                  </a:lnTo>
                  <a:cubicBezTo>
                    <a:pt x="3312549" y="2134099"/>
                    <a:pt x="3311251" y="2137230"/>
                    <a:pt x="3308943" y="2139539"/>
                  </a:cubicBezTo>
                  <a:cubicBezTo>
                    <a:pt x="3306634" y="2141847"/>
                    <a:pt x="3303503" y="2143144"/>
                    <a:pt x="3300238" y="2143144"/>
                  </a:cubicBezTo>
                  <a:lnTo>
                    <a:pt x="12311" y="2143144"/>
                  </a:lnTo>
                  <a:cubicBezTo>
                    <a:pt x="9046" y="2143144"/>
                    <a:pt x="5915" y="2141847"/>
                    <a:pt x="3606" y="2139539"/>
                  </a:cubicBezTo>
                  <a:cubicBezTo>
                    <a:pt x="1297" y="2137230"/>
                    <a:pt x="0" y="2134099"/>
                    <a:pt x="0" y="2130834"/>
                  </a:cubicBezTo>
                  <a:lnTo>
                    <a:pt x="0" y="12311"/>
                  </a:lnTo>
                  <a:cubicBezTo>
                    <a:pt x="0" y="9046"/>
                    <a:pt x="1297" y="5915"/>
                    <a:pt x="3606" y="3606"/>
                  </a:cubicBezTo>
                  <a:cubicBezTo>
                    <a:pt x="5915" y="1297"/>
                    <a:pt x="9046" y="0"/>
                    <a:pt x="12311" y="0"/>
                  </a:cubicBezTo>
                  <a:close/>
                </a:path>
              </a:pathLst>
            </a:custGeom>
            <a:solidFill>
              <a:srgbClr val="000000"/>
            </a:solidFill>
            <a:ln w="36900" cap="sq" cmpd="sng">
              <a:solidFill>
                <a:srgbClr val="E5E1DA"/>
              </a:solidFill>
              <a:prstDash val="solid"/>
              <a:miter lim="8000"/>
              <a:headEnd type="none" w="sm" len="sm"/>
              <a:tailEnd type="none" w="sm" len="sm"/>
            </a:ln>
          </p:spPr>
          <p:txBody>
            <a:bodyPr spcFirstLastPara="1" wrap="square" lIns="44275" tIns="22125" rIns="44275" bIns="22125" anchor="t" anchorCtr="0">
              <a:noAutofit/>
            </a:bodyPr>
            <a:lstStyle/>
            <a:p>
              <a:pPr marL="0" marR="0" lvl="0" indent="0" algn="l" rtl="0">
                <a:spcBef>
                  <a:spcPts val="0"/>
                </a:spcBef>
                <a:spcAft>
                  <a:spcPts val="0"/>
                </a:spcAft>
                <a:buNone/>
              </a:pPr>
              <a:endParaRPr sz="871">
                <a:solidFill>
                  <a:schemeClr val="dk1"/>
                </a:solidFill>
                <a:latin typeface="Calibri"/>
                <a:ea typeface="Calibri"/>
                <a:cs typeface="Calibri"/>
                <a:sym typeface="Calibri"/>
              </a:endParaRPr>
            </a:p>
          </p:txBody>
        </p:sp>
        <p:sp>
          <p:nvSpPr>
            <p:cNvPr id="187" name="Google Shape;187;p28"/>
            <p:cNvSpPr txBox="1"/>
            <p:nvPr/>
          </p:nvSpPr>
          <p:spPr>
            <a:xfrm>
              <a:off x="0" y="-38100"/>
              <a:ext cx="3312548" cy="2181244"/>
            </a:xfrm>
            <a:prstGeom prst="rect">
              <a:avLst/>
            </a:prstGeom>
            <a:noFill/>
            <a:ln>
              <a:noFill/>
            </a:ln>
          </p:spPr>
          <p:txBody>
            <a:bodyPr spcFirstLastPara="1" wrap="square" lIns="24600" tIns="24600" rIns="24600" bIns="24600" anchor="ctr" anchorCtr="0">
              <a:noAutofit/>
            </a:bodyPr>
            <a:lstStyle/>
            <a:p>
              <a:pPr marL="0" marR="0" lvl="0" indent="0" algn="ctr" rtl="0">
                <a:lnSpc>
                  <a:spcPct val="147722"/>
                </a:lnSpc>
                <a:spcBef>
                  <a:spcPts val="0"/>
                </a:spcBef>
                <a:spcAft>
                  <a:spcPts val="0"/>
                </a:spcAft>
                <a:buNone/>
              </a:pPr>
              <a:endParaRPr sz="871">
                <a:solidFill>
                  <a:schemeClr val="dk1"/>
                </a:solidFill>
                <a:latin typeface="Calibri"/>
                <a:ea typeface="Calibri"/>
                <a:cs typeface="Calibri"/>
                <a:sym typeface="Calibri"/>
              </a:endParaRPr>
            </a:p>
          </p:txBody>
        </p:sp>
      </p:grpSp>
      <p:sp>
        <p:nvSpPr>
          <p:cNvPr id="188" name="Google Shape;188;p28"/>
          <p:cNvSpPr/>
          <p:nvPr/>
        </p:nvSpPr>
        <p:spPr>
          <a:xfrm>
            <a:off x="5106316" y="189145"/>
            <a:ext cx="325205" cy="325205"/>
          </a:xfrm>
          <a:custGeom>
            <a:avLst/>
            <a:gdLst/>
            <a:ahLst/>
            <a:cxnLst/>
            <a:rect l="l" t="t" r="r" b="b"/>
            <a:pathLst>
              <a:path w="650410" h="650410" extrusionOk="0">
                <a:moveTo>
                  <a:pt x="0" y="0"/>
                </a:moveTo>
                <a:lnTo>
                  <a:pt x="650410" y="0"/>
                </a:lnTo>
                <a:lnTo>
                  <a:pt x="650410" y="650410"/>
                </a:lnTo>
                <a:lnTo>
                  <a:pt x="0" y="650410"/>
                </a:lnTo>
                <a:lnTo>
                  <a:pt x="0" y="0"/>
                </a:lnTo>
                <a:close/>
              </a:path>
            </a:pathLst>
          </a:custGeom>
          <a:blipFill rotWithShape="1">
            <a:blip r:embed="rId4" cstate="screen">
              <a:alphaModFix/>
              <a:extLst>
                <a:ext uri="{28A0092B-C50C-407E-A947-70E740481C1C}">
                  <a14:useLocalDpi xmlns:a14="http://schemas.microsoft.com/office/drawing/2010/main"/>
                </a:ext>
              </a:extLst>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189" name="Google Shape;189;p28"/>
          <p:cNvSpPr txBox="1"/>
          <p:nvPr/>
        </p:nvSpPr>
        <p:spPr>
          <a:xfrm>
            <a:off x="1169511" y="2141615"/>
            <a:ext cx="4262100" cy="1785756"/>
          </a:xfrm>
          <a:prstGeom prst="rect">
            <a:avLst/>
          </a:prstGeom>
          <a:noFill/>
          <a:ln>
            <a:noFill/>
          </a:ln>
        </p:spPr>
        <p:txBody>
          <a:bodyPr spcFirstLastPara="1" wrap="square" lIns="0" tIns="0" rIns="0" bIns="0" anchor="t" anchorCtr="0">
            <a:normAutofit/>
          </a:bodyPr>
          <a:lstStyle/>
          <a:p>
            <a:pPr marL="0" marR="0" lvl="0" indent="0" algn="l" rtl="0">
              <a:lnSpc>
                <a:spcPct val="140000"/>
              </a:lnSpc>
              <a:spcBef>
                <a:spcPts val="0"/>
              </a:spcBef>
              <a:spcAft>
                <a:spcPts val="0"/>
              </a:spcAft>
              <a:buNone/>
            </a:pPr>
            <a:r>
              <a:rPr lang="en-GB" sz="1100" dirty="0">
                <a:solidFill>
                  <a:srgbClr val="E5E1DA"/>
                </a:solidFill>
                <a:latin typeface="Lato"/>
                <a:ea typeface="Lato"/>
                <a:cs typeface="Lato"/>
                <a:sym typeface="Lato"/>
              </a:rPr>
              <a:t>Describe your solution (Try to keep under 100  words)</a:t>
            </a:r>
            <a:endParaRPr sz="700" dirty="0"/>
          </a:p>
        </p:txBody>
      </p:sp>
      <p:sp>
        <p:nvSpPr>
          <p:cNvPr id="190" name="Google Shape;190;p28"/>
          <p:cNvSpPr txBox="1"/>
          <p:nvPr/>
        </p:nvSpPr>
        <p:spPr>
          <a:xfrm>
            <a:off x="1169511" y="1216129"/>
            <a:ext cx="4596000" cy="558614"/>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GB" sz="3300" b="1" dirty="0">
                <a:solidFill>
                  <a:srgbClr val="FBF9F1"/>
                </a:solidFill>
                <a:latin typeface="Poppins"/>
                <a:ea typeface="Poppins"/>
                <a:cs typeface="Poppins"/>
                <a:sym typeface="Poppins"/>
              </a:rPr>
              <a:t>Solution Details</a:t>
            </a:r>
            <a:endParaRPr sz="700" dirty="0"/>
          </a:p>
        </p:txBody>
      </p:sp>
      <p:sp>
        <p:nvSpPr>
          <p:cNvPr id="191" name="Google Shape;191;p28"/>
          <p:cNvSpPr txBox="1"/>
          <p:nvPr/>
        </p:nvSpPr>
        <p:spPr>
          <a:xfrm>
            <a:off x="1169498" y="1784450"/>
            <a:ext cx="3726000" cy="301621"/>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dirty="0">
                <a:solidFill>
                  <a:srgbClr val="E5E1DA"/>
                </a:solidFill>
                <a:latin typeface="Lato"/>
                <a:ea typeface="Lato"/>
                <a:cs typeface="Lato"/>
                <a:sym typeface="Lato"/>
              </a:rPr>
              <a:t>Solution Name (Try to keep it under 5 words)</a:t>
            </a:r>
            <a:endParaRPr sz="1000" dirty="0"/>
          </a:p>
        </p:txBody>
      </p:sp>
      <p:sp>
        <p:nvSpPr>
          <p:cNvPr id="192" name="Google Shape;192;p28"/>
          <p:cNvSpPr txBox="1"/>
          <p:nvPr/>
        </p:nvSpPr>
        <p:spPr>
          <a:xfrm>
            <a:off x="1169498" y="3997350"/>
            <a:ext cx="2107200" cy="169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GB" sz="1100" dirty="0">
                <a:solidFill>
                  <a:srgbClr val="E5E1DA"/>
                </a:solidFill>
                <a:latin typeface="Lato"/>
                <a:ea typeface="Lato"/>
                <a:cs typeface="Lato"/>
                <a:sym typeface="Lato"/>
              </a:rPr>
              <a:t>Demographic it Impacts</a:t>
            </a:r>
            <a:endParaRPr sz="700" dirty="0"/>
          </a:p>
        </p:txBody>
      </p:sp>
      <p:pic>
        <p:nvPicPr>
          <p:cNvPr id="193" name="Google Shape;193;p28" title="AI4India Logo.jpg"/>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8065624" y="267450"/>
            <a:ext cx="941724" cy="367825"/>
          </a:xfrm>
          <a:prstGeom prst="rect">
            <a:avLst/>
          </a:prstGeom>
          <a:noFill/>
          <a:ln>
            <a:noFill/>
          </a:ln>
        </p:spPr>
      </p:pic>
      <p:pic>
        <p:nvPicPr>
          <p:cNvPr id="194" name="Google Shape;194;p28" title="hopeworks logo.png"/>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7555296" y="203475"/>
            <a:ext cx="432575" cy="431800"/>
          </a:xfrm>
          <a:prstGeom prst="rect">
            <a:avLst/>
          </a:prstGeom>
          <a:noFill/>
          <a:ln>
            <a:noFill/>
          </a:ln>
        </p:spPr>
      </p:pic>
      <p:sp>
        <p:nvSpPr>
          <p:cNvPr id="2" name="TextBox 1">
            <a:extLst>
              <a:ext uri="{FF2B5EF4-FFF2-40B4-BE49-F238E27FC236}">
                <a16:creationId xmlns:a16="http://schemas.microsoft.com/office/drawing/2014/main" id="{9CC43AF0-FE20-1BF6-E2DE-8FB2A45F6F02}"/>
              </a:ext>
            </a:extLst>
          </p:cNvPr>
          <p:cNvSpPr txBox="1"/>
          <p:nvPr/>
        </p:nvSpPr>
        <p:spPr>
          <a:xfrm>
            <a:off x="1348692" y="105261"/>
            <a:ext cx="1894114" cy="523220"/>
          </a:xfrm>
          <a:prstGeom prst="rect">
            <a:avLst/>
          </a:prstGeom>
          <a:noFill/>
        </p:spPr>
        <p:txBody>
          <a:bodyPr wrap="square" rtlCol="0">
            <a:spAutoFit/>
          </a:bodyPr>
          <a:lstStyle/>
          <a:p>
            <a:r>
              <a:rPr lang="en-US" dirty="0">
                <a:solidFill>
                  <a:schemeClr val="bg1"/>
                </a:solidFill>
              </a:rPr>
              <a:t>Copy It from your IDEA Submission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18">
          <a:extLst>
            <a:ext uri="{FF2B5EF4-FFF2-40B4-BE49-F238E27FC236}">
              <a16:creationId xmlns:a16="http://schemas.microsoft.com/office/drawing/2014/main" id="{CEC8B5C0-E0ED-D059-2898-4621A6EAC10C}"/>
            </a:ext>
          </a:extLst>
        </p:cNvPr>
        <p:cNvGrpSpPr/>
        <p:nvPr/>
      </p:nvGrpSpPr>
      <p:grpSpPr>
        <a:xfrm>
          <a:off x="0" y="0"/>
          <a:ext cx="0" cy="0"/>
          <a:chOff x="0" y="0"/>
          <a:chExt cx="0" cy="0"/>
        </a:xfrm>
      </p:grpSpPr>
      <p:sp>
        <p:nvSpPr>
          <p:cNvPr id="4" name="Google Shape;273;p4">
            <a:extLst>
              <a:ext uri="{FF2B5EF4-FFF2-40B4-BE49-F238E27FC236}">
                <a16:creationId xmlns:a16="http://schemas.microsoft.com/office/drawing/2014/main" id="{252E7A35-C3A4-E507-2918-B6DB80AB129A}"/>
              </a:ext>
            </a:extLst>
          </p:cNvPr>
          <p:cNvSpPr txBox="1"/>
          <p:nvPr/>
        </p:nvSpPr>
        <p:spPr>
          <a:xfrm>
            <a:off x="1796143" y="63612"/>
            <a:ext cx="5551714" cy="507888"/>
          </a:xfrm>
          <a:prstGeom prst="rect">
            <a:avLst/>
          </a:prstGeom>
          <a:noFill/>
          <a:ln>
            <a:noFill/>
          </a:ln>
        </p:spPr>
        <p:txBody>
          <a:bodyPr spcFirstLastPara="1" wrap="square" lIns="121900" tIns="121900" rIns="121900" bIns="121900" anchor="t" anchorCtr="0">
            <a:noAutofit/>
          </a:bodyPr>
          <a:lstStyle/>
          <a:p>
            <a:pPr marL="0" marR="0" lvl="0" indent="0" algn="ctr" rtl="0">
              <a:lnSpc>
                <a:spcPct val="90000"/>
              </a:lnSpc>
              <a:spcBef>
                <a:spcPts val="0"/>
              </a:spcBef>
              <a:spcAft>
                <a:spcPts val="0"/>
              </a:spcAft>
              <a:buClr>
                <a:schemeClr val="dk1"/>
              </a:buClr>
              <a:buSzPts val="4400"/>
              <a:buFont typeface="Algerian"/>
              <a:buNone/>
            </a:pPr>
            <a:r>
              <a:rPr lang="en-IN" sz="2000" dirty="0">
                <a:solidFill>
                  <a:srgbClr val="FBF9F1"/>
                </a:solidFill>
                <a:latin typeface="Poppins"/>
                <a:cs typeface="Poppins"/>
                <a:sym typeface="Algerian"/>
              </a:rPr>
              <a:t>Value proposition</a:t>
            </a:r>
            <a:endParaRPr sz="2000" dirty="0">
              <a:solidFill>
                <a:srgbClr val="FBF9F1"/>
              </a:solidFill>
              <a:latin typeface="Poppins"/>
              <a:cs typeface="Poppins"/>
            </a:endParaRPr>
          </a:p>
        </p:txBody>
      </p:sp>
      <p:pic>
        <p:nvPicPr>
          <p:cNvPr id="10" name="Picture 9">
            <a:extLst>
              <a:ext uri="{FF2B5EF4-FFF2-40B4-BE49-F238E27FC236}">
                <a16:creationId xmlns:a16="http://schemas.microsoft.com/office/drawing/2014/main" id="{54228DF0-05D3-ECF1-2986-7ADC45A6891F}"/>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2181905" y="1901376"/>
            <a:ext cx="4780190" cy="1927674"/>
          </a:xfrm>
          <a:prstGeom prst="rect">
            <a:avLst/>
          </a:prstGeom>
        </p:spPr>
      </p:pic>
      <p:sp>
        <p:nvSpPr>
          <p:cNvPr id="11" name="TextBox 10">
            <a:extLst>
              <a:ext uri="{FF2B5EF4-FFF2-40B4-BE49-F238E27FC236}">
                <a16:creationId xmlns:a16="http://schemas.microsoft.com/office/drawing/2014/main" id="{1DD513F9-ECCA-7BA8-6C62-1B732D3A8708}"/>
              </a:ext>
            </a:extLst>
          </p:cNvPr>
          <p:cNvSpPr txBox="1"/>
          <p:nvPr/>
        </p:nvSpPr>
        <p:spPr>
          <a:xfrm>
            <a:off x="110217" y="2493382"/>
            <a:ext cx="2416629" cy="369332"/>
          </a:xfrm>
          <a:prstGeom prst="rect">
            <a:avLst/>
          </a:prstGeom>
          <a:noFill/>
        </p:spPr>
        <p:txBody>
          <a:bodyPr wrap="square" rtlCol="0">
            <a:spAutoFit/>
          </a:bodyPr>
          <a:lstStyle/>
          <a:p>
            <a:r>
              <a:rPr lang="en-US" sz="900" dirty="0">
                <a:solidFill>
                  <a:schemeClr val="bg1"/>
                </a:solidFill>
              </a:rPr>
              <a:t>These are the actual offerings your company provides to customers.</a:t>
            </a:r>
          </a:p>
        </p:txBody>
      </p:sp>
      <p:sp>
        <p:nvSpPr>
          <p:cNvPr id="13" name="TextBox 12">
            <a:extLst>
              <a:ext uri="{FF2B5EF4-FFF2-40B4-BE49-F238E27FC236}">
                <a16:creationId xmlns:a16="http://schemas.microsoft.com/office/drawing/2014/main" id="{9663FE0A-3BCF-FFC6-B733-E7B34CC2B130}"/>
              </a:ext>
            </a:extLst>
          </p:cNvPr>
          <p:cNvSpPr txBox="1"/>
          <p:nvPr/>
        </p:nvSpPr>
        <p:spPr>
          <a:xfrm>
            <a:off x="2313553" y="1140026"/>
            <a:ext cx="2046175" cy="646331"/>
          </a:xfrm>
          <a:prstGeom prst="rect">
            <a:avLst/>
          </a:prstGeom>
          <a:noFill/>
        </p:spPr>
        <p:txBody>
          <a:bodyPr wrap="square">
            <a:spAutoFit/>
          </a:bodyPr>
          <a:lstStyle/>
          <a:p>
            <a:r>
              <a:rPr lang="en-US" sz="900" dirty="0">
                <a:solidFill>
                  <a:schemeClr val="bg1"/>
                </a:solidFill>
              </a:rPr>
              <a:t>These are features or benefits that help customers achieve positive outcomes, exceed expectations, or feel delighted. </a:t>
            </a:r>
          </a:p>
        </p:txBody>
      </p:sp>
      <p:sp>
        <p:nvSpPr>
          <p:cNvPr id="18" name="TextBox 17">
            <a:extLst>
              <a:ext uri="{FF2B5EF4-FFF2-40B4-BE49-F238E27FC236}">
                <a16:creationId xmlns:a16="http://schemas.microsoft.com/office/drawing/2014/main" id="{29834A5E-7B9A-E881-57DD-840EC17336D3}"/>
              </a:ext>
            </a:extLst>
          </p:cNvPr>
          <p:cNvSpPr txBox="1"/>
          <p:nvPr/>
        </p:nvSpPr>
        <p:spPr>
          <a:xfrm>
            <a:off x="2351313" y="3794227"/>
            <a:ext cx="1796144" cy="369332"/>
          </a:xfrm>
          <a:prstGeom prst="rect">
            <a:avLst/>
          </a:prstGeom>
          <a:noFill/>
        </p:spPr>
        <p:txBody>
          <a:bodyPr wrap="square">
            <a:spAutoFit/>
          </a:bodyPr>
          <a:lstStyle/>
          <a:p>
            <a:r>
              <a:rPr lang="en-US" sz="900" dirty="0">
                <a:solidFill>
                  <a:srgbClr val="FFFFFF"/>
                </a:solidFill>
                <a:effectLst/>
                <a:latin typeface="Arial" panose="020B0604020202020204" pitchFamily="34" charset="0"/>
              </a:rPr>
              <a:t>These address customer challenges, risks, or barriers.</a:t>
            </a:r>
            <a:endParaRPr lang="en-US" sz="900" dirty="0">
              <a:solidFill>
                <a:schemeClr val="bg1"/>
              </a:solidFill>
            </a:endParaRPr>
          </a:p>
        </p:txBody>
      </p:sp>
      <p:sp>
        <p:nvSpPr>
          <p:cNvPr id="20" name="TextBox 19">
            <a:extLst>
              <a:ext uri="{FF2B5EF4-FFF2-40B4-BE49-F238E27FC236}">
                <a16:creationId xmlns:a16="http://schemas.microsoft.com/office/drawing/2014/main" id="{F04FC8A7-C3A7-C6B2-2690-B4442C1DF13C}"/>
              </a:ext>
            </a:extLst>
          </p:cNvPr>
          <p:cNvSpPr txBox="1"/>
          <p:nvPr/>
        </p:nvSpPr>
        <p:spPr>
          <a:xfrm>
            <a:off x="4915173" y="1093859"/>
            <a:ext cx="2461531" cy="369332"/>
          </a:xfrm>
          <a:prstGeom prst="rect">
            <a:avLst/>
          </a:prstGeom>
          <a:noFill/>
        </p:spPr>
        <p:txBody>
          <a:bodyPr wrap="square">
            <a:spAutoFit/>
          </a:bodyPr>
          <a:lstStyle/>
          <a:p>
            <a:r>
              <a:rPr lang="en-US" sz="900" dirty="0">
                <a:solidFill>
                  <a:schemeClr val="bg1"/>
                </a:solidFill>
              </a:rPr>
              <a:t>These are the tasks, problems, or goals customers are trying to accomplish.</a:t>
            </a:r>
          </a:p>
        </p:txBody>
      </p:sp>
      <p:sp>
        <p:nvSpPr>
          <p:cNvPr id="22" name="TextBox 21">
            <a:extLst>
              <a:ext uri="{FF2B5EF4-FFF2-40B4-BE49-F238E27FC236}">
                <a16:creationId xmlns:a16="http://schemas.microsoft.com/office/drawing/2014/main" id="{C01C5C8B-EABF-7D03-A4F6-E95499171968}"/>
              </a:ext>
            </a:extLst>
          </p:cNvPr>
          <p:cNvSpPr txBox="1"/>
          <p:nvPr/>
        </p:nvSpPr>
        <p:spPr>
          <a:xfrm>
            <a:off x="7034784" y="2424132"/>
            <a:ext cx="1414272" cy="507831"/>
          </a:xfrm>
          <a:prstGeom prst="rect">
            <a:avLst/>
          </a:prstGeom>
          <a:noFill/>
        </p:spPr>
        <p:txBody>
          <a:bodyPr wrap="square">
            <a:spAutoFit/>
          </a:bodyPr>
          <a:lstStyle/>
          <a:p>
            <a:r>
              <a:rPr lang="en-US" sz="900" dirty="0">
                <a:solidFill>
                  <a:schemeClr val="bg1"/>
                </a:solidFill>
              </a:rPr>
              <a:t>These are the benefits customers want or expect.</a:t>
            </a:r>
          </a:p>
        </p:txBody>
      </p:sp>
      <p:sp>
        <p:nvSpPr>
          <p:cNvPr id="24" name="TextBox 23">
            <a:extLst>
              <a:ext uri="{FF2B5EF4-FFF2-40B4-BE49-F238E27FC236}">
                <a16:creationId xmlns:a16="http://schemas.microsoft.com/office/drawing/2014/main" id="{113B0A49-28CB-7918-6597-EE91D4F6FC91}"/>
              </a:ext>
            </a:extLst>
          </p:cNvPr>
          <p:cNvSpPr txBox="1"/>
          <p:nvPr/>
        </p:nvSpPr>
        <p:spPr>
          <a:xfrm>
            <a:off x="4572000" y="3794227"/>
            <a:ext cx="2487168" cy="369332"/>
          </a:xfrm>
          <a:prstGeom prst="rect">
            <a:avLst/>
          </a:prstGeom>
          <a:noFill/>
        </p:spPr>
        <p:txBody>
          <a:bodyPr wrap="square">
            <a:spAutoFit/>
          </a:bodyPr>
          <a:lstStyle/>
          <a:p>
            <a:r>
              <a:rPr lang="en-US" sz="900" dirty="0">
                <a:solidFill>
                  <a:schemeClr val="bg1"/>
                </a:solidFill>
              </a:rPr>
              <a:t>These are negative emotions, costs, risks, or frustrations customers experience.</a:t>
            </a:r>
          </a:p>
        </p:txBody>
      </p:sp>
      <p:sp>
        <p:nvSpPr>
          <p:cNvPr id="25" name="TextBox 24">
            <a:extLst>
              <a:ext uri="{FF2B5EF4-FFF2-40B4-BE49-F238E27FC236}">
                <a16:creationId xmlns:a16="http://schemas.microsoft.com/office/drawing/2014/main" id="{CA21F7F6-709E-E353-D8F3-F969E52A5DB7}"/>
              </a:ext>
            </a:extLst>
          </p:cNvPr>
          <p:cNvSpPr txBox="1"/>
          <p:nvPr/>
        </p:nvSpPr>
        <p:spPr>
          <a:xfrm>
            <a:off x="6286772" y="686519"/>
            <a:ext cx="2567667" cy="369332"/>
          </a:xfrm>
          <a:prstGeom prst="rect">
            <a:avLst/>
          </a:prstGeom>
          <a:noFill/>
        </p:spPr>
        <p:txBody>
          <a:bodyPr wrap="square" rtlCol="0">
            <a:spAutoFit/>
          </a:bodyPr>
          <a:lstStyle/>
          <a:p>
            <a:r>
              <a:rPr lang="en-US" sz="900" dirty="0">
                <a:solidFill>
                  <a:srgbClr val="FF0000"/>
                </a:solidFill>
              </a:rPr>
              <a:t>In solution clearly indicate what is in your solution right now or what is future state</a:t>
            </a:r>
          </a:p>
        </p:txBody>
      </p:sp>
    </p:spTree>
    <p:extLst>
      <p:ext uri="{BB962C8B-B14F-4D97-AF65-F5344CB8AC3E}">
        <p14:creationId xmlns:p14="http://schemas.microsoft.com/office/powerpoint/2010/main" val="3675667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18">
          <a:extLst>
            <a:ext uri="{FF2B5EF4-FFF2-40B4-BE49-F238E27FC236}">
              <a16:creationId xmlns:a16="http://schemas.microsoft.com/office/drawing/2014/main" id="{249E42AC-5094-E781-4918-7E074B56F60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E50E06D-A59F-255B-D178-FE97F1EF6971}"/>
              </a:ext>
            </a:extLst>
          </p:cNvPr>
          <p:cNvSpPr txBox="1"/>
          <p:nvPr/>
        </p:nvSpPr>
        <p:spPr>
          <a:xfrm>
            <a:off x="2076395" y="163649"/>
            <a:ext cx="4448014"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Arial"/>
                <a:cs typeface="Arial"/>
                <a:sym typeface="Arial"/>
              </a:rPr>
              <a:t>Thinking </a:t>
            </a:r>
            <a:r>
              <a:rPr kumimoji="0" lang="en-US" sz="2800" b="1" i="0" u="none" strike="noStrike" kern="0" cap="none" spc="0" normalizeH="0" baseline="0" noProof="0" dirty="0">
                <a:ln>
                  <a:noFill/>
                </a:ln>
                <a:solidFill>
                  <a:srgbClr val="FFFFFF"/>
                </a:solidFill>
                <a:effectLst/>
                <a:uLnTx/>
                <a:uFillTx/>
                <a:latin typeface="Arial"/>
                <a:cs typeface="Arial"/>
                <a:sym typeface="Arial"/>
              </a:rPr>
              <a:t>BIG</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FFFFFF"/>
                </a:solidFill>
                <a:effectLst/>
                <a:uLnTx/>
                <a:uFillTx/>
                <a:latin typeface="Arial"/>
                <a:cs typeface="Arial"/>
                <a:sym typeface="Arial"/>
              </a:rPr>
              <a:t>Current State vs Future State of our solution</a:t>
            </a:r>
          </a:p>
        </p:txBody>
      </p:sp>
      <p:pic>
        <p:nvPicPr>
          <p:cNvPr id="5" name="Picture 4">
            <a:extLst>
              <a:ext uri="{FF2B5EF4-FFF2-40B4-BE49-F238E27FC236}">
                <a16:creationId xmlns:a16="http://schemas.microsoft.com/office/drawing/2014/main" id="{8D868D61-1E61-EACA-3596-D4BA7218D3C5}"/>
              </a:ext>
            </a:extLst>
          </p:cNvPr>
          <p:cNvPicPr>
            <a:picLocks noChangeAspect="1"/>
          </p:cNvPicPr>
          <p:nvPr/>
        </p:nvPicPr>
        <p:blipFill>
          <a:blip r:embed="rId3" cstate="screen">
            <a:extLst>
              <a:ext uri="{28A0092B-C50C-407E-A947-70E740481C1C}">
                <a14:useLocalDpi xmlns:a14="http://schemas.microsoft.com/office/drawing/2010/main"/>
              </a:ext>
            </a:extLst>
          </a:blip>
          <a:srcRect t="-2"/>
          <a:stretch>
            <a:fillRect/>
          </a:stretch>
        </p:blipFill>
        <p:spPr>
          <a:xfrm>
            <a:off x="0" y="1226820"/>
            <a:ext cx="9144000" cy="3268980"/>
          </a:xfrm>
          <a:prstGeom prst="rect">
            <a:avLst/>
          </a:prstGeom>
        </p:spPr>
      </p:pic>
      <p:sp>
        <p:nvSpPr>
          <p:cNvPr id="6" name="Google Shape;179;p27">
            <a:extLst>
              <a:ext uri="{FF2B5EF4-FFF2-40B4-BE49-F238E27FC236}">
                <a16:creationId xmlns:a16="http://schemas.microsoft.com/office/drawing/2014/main" id="{DFBBA8F5-2980-551A-E0DE-EDB5B1801023}"/>
              </a:ext>
            </a:extLst>
          </p:cNvPr>
          <p:cNvSpPr txBox="1"/>
          <p:nvPr/>
        </p:nvSpPr>
        <p:spPr>
          <a:xfrm rot="-1716536">
            <a:off x="1168697" y="2760137"/>
            <a:ext cx="6263410" cy="430943"/>
          </a:xfrm>
          <a:prstGeom prst="rect">
            <a:avLst/>
          </a:prstGeom>
          <a:solidFill>
            <a:srgbClr val="F2F2F2"/>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dirty="0">
                <a:solidFill>
                  <a:schemeClr val="dk1"/>
                </a:solidFill>
                <a:latin typeface="Calibri"/>
                <a:ea typeface="Calibri"/>
                <a:cs typeface="Calibri"/>
                <a:sym typeface="Calibri"/>
              </a:rPr>
              <a:t>SAMPLE for reference, please replace with your project details</a:t>
            </a:r>
            <a:endParaRPr sz="1600" b="1"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5107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18">
          <a:extLst>
            <a:ext uri="{FF2B5EF4-FFF2-40B4-BE49-F238E27FC236}">
              <a16:creationId xmlns:a16="http://schemas.microsoft.com/office/drawing/2014/main" id="{C656271A-46A9-13F0-92E5-5CAF0BD497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1313FE1-41F7-35AE-9947-2178AC0B24C3}"/>
              </a:ext>
            </a:extLst>
          </p:cNvPr>
          <p:cNvSpPr txBox="1"/>
          <p:nvPr/>
        </p:nvSpPr>
        <p:spPr>
          <a:xfrm>
            <a:off x="3133920" y="247620"/>
            <a:ext cx="2876158" cy="400110"/>
          </a:xfrm>
          <a:prstGeom prst="rect">
            <a:avLst/>
          </a:prstGeom>
          <a:noFill/>
        </p:spPr>
        <p:txBody>
          <a:bodyPr wrap="square" rtlCol="0">
            <a:spAutoFit/>
          </a:bodyPr>
          <a:lstStyle/>
          <a:p>
            <a:r>
              <a:rPr lang="en-US" sz="2000" dirty="0">
                <a:solidFill>
                  <a:schemeClr val="bg1"/>
                </a:solidFill>
              </a:rPr>
              <a:t>Architecture Discovery</a:t>
            </a:r>
          </a:p>
        </p:txBody>
      </p:sp>
      <p:sp>
        <p:nvSpPr>
          <p:cNvPr id="4" name="AutoShape 2" descr="Team alignment graphics for decision-making">
            <a:extLst>
              <a:ext uri="{FF2B5EF4-FFF2-40B4-BE49-F238E27FC236}">
                <a16:creationId xmlns:a16="http://schemas.microsoft.com/office/drawing/2014/main" id="{9EDE8F60-31B8-2F52-98B4-101A24DC1507}"/>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3178227E-8510-8077-DA0E-839359357543}"/>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1104900"/>
            <a:ext cx="9143999" cy="3985260"/>
          </a:xfrm>
          <a:prstGeom prst="rect">
            <a:avLst/>
          </a:prstGeom>
        </p:spPr>
      </p:pic>
    </p:spTree>
    <p:extLst>
      <p:ext uri="{BB962C8B-B14F-4D97-AF65-F5344CB8AC3E}">
        <p14:creationId xmlns:p14="http://schemas.microsoft.com/office/powerpoint/2010/main" val="4235589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18">
          <a:extLst>
            <a:ext uri="{FF2B5EF4-FFF2-40B4-BE49-F238E27FC236}">
              <a16:creationId xmlns:a16="http://schemas.microsoft.com/office/drawing/2014/main" id="{CB92CC49-04E5-6111-77BC-2C07C361959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572D466-429B-78D5-59AB-5F7391546E03}"/>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1150619"/>
            <a:ext cx="9144000" cy="3992881"/>
          </a:xfrm>
          <a:prstGeom prst="rect">
            <a:avLst/>
          </a:prstGeom>
        </p:spPr>
      </p:pic>
      <p:sp>
        <p:nvSpPr>
          <p:cNvPr id="7" name="TextBox 6">
            <a:extLst>
              <a:ext uri="{FF2B5EF4-FFF2-40B4-BE49-F238E27FC236}">
                <a16:creationId xmlns:a16="http://schemas.microsoft.com/office/drawing/2014/main" id="{FA3AC6F9-C42E-F18F-9685-1BD35444D6CB}"/>
              </a:ext>
            </a:extLst>
          </p:cNvPr>
          <p:cNvSpPr txBox="1"/>
          <p:nvPr/>
        </p:nvSpPr>
        <p:spPr>
          <a:xfrm>
            <a:off x="3118122" y="165837"/>
            <a:ext cx="2907755" cy="400110"/>
          </a:xfrm>
          <a:prstGeom prst="rect">
            <a:avLst/>
          </a:prstGeom>
          <a:noFill/>
        </p:spPr>
        <p:txBody>
          <a:bodyPr wrap="square" rtlCol="0">
            <a:spAutoFit/>
          </a:bodyPr>
          <a:lstStyle/>
          <a:p>
            <a:r>
              <a:rPr lang="en-US" sz="2000" dirty="0">
                <a:solidFill>
                  <a:schemeClr val="bg1"/>
                </a:solidFill>
              </a:rPr>
              <a:t>Process &amp; Data Flow</a:t>
            </a:r>
          </a:p>
        </p:txBody>
      </p:sp>
      <p:sp>
        <p:nvSpPr>
          <p:cNvPr id="9" name="Google Shape;179;p27">
            <a:extLst>
              <a:ext uri="{FF2B5EF4-FFF2-40B4-BE49-F238E27FC236}">
                <a16:creationId xmlns:a16="http://schemas.microsoft.com/office/drawing/2014/main" id="{5466494F-A5AB-FF97-DB56-E9DFD72E533F}"/>
              </a:ext>
            </a:extLst>
          </p:cNvPr>
          <p:cNvSpPr txBox="1"/>
          <p:nvPr/>
        </p:nvSpPr>
        <p:spPr>
          <a:xfrm rot="-1716536">
            <a:off x="1122977" y="2623863"/>
            <a:ext cx="6263410" cy="430943"/>
          </a:xfrm>
          <a:prstGeom prst="rect">
            <a:avLst/>
          </a:prstGeom>
          <a:solidFill>
            <a:srgbClr val="F2F2F2"/>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dirty="0">
                <a:solidFill>
                  <a:schemeClr val="dk1"/>
                </a:solidFill>
                <a:latin typeface="Calibri"/>
                <a:ea typeface="Calibri"/>
                <a:cs typeface="Calibri"/>
                <a:sym typeface="Calibri"/>
              </a:rPr>
              <a:t>SAMPLE for reference, please replace with your project details</a:t>
            </a:r>
            <a:endParaRPr sz="1600" b="1" dirty="0">
              <a:solidFill>
                <a:schemeClr val="dk1"/>
              </a:solidFill>
              <a:latin typeface="Calibri"/>
              <a:ea typeface="Calibri"/>
              <a:cs typeface="Calibri"/>
              <a:sym typeface="Calibri"/>
            </a:endParaRPr>
          </a:p>
        </p:txBody>
      </p:sp>
      <p:sp>
        <p:nvSpPr>
          <p:cNvPr id="12" name="TextBox 11">
            <a:extLst>
              <a:ext uri="{FF2B5EF4-FFF2-40B4-BE49-F238E27FC236}">
                <a16:creationId xmlns:a16="http://schemas.microsoft.com/office/drawing/2014/main" id="{9590CA3E-D649-BF1C-FBB5-7C4D9DA4171B}"/>
              </a:ext>
            </a:extLst>
          </p:cNvPr>
          <p:cNvSpPr txBox="1"/>
          <p:nvPr/>
        </p:nvSpPr>
        <p:spPr>
          <a:xfrm>
            <a:off x="1402158" y="535169"/>
            <a:ext cx="5967286" cy="430887"/>
          </a:xfrm>
          <a:prstGeom prst="rect">
            <a:avLst/>
          </a:prstGeom>
          <a:noFill/>
        </p:spPr>
        <p:txBody>
          <a:bodyPr wrap="square" rtlCol="0">
            <a:spAutoFit/>
          </a:bodyPr>
          <a:lstStyle/>
          <a:p>
            <a:pPr algn="ctr"/>
            <a:r>
              <a:rPr lang="en-US" sz="1100" dirty="0">
                <a:solidFill>
                  <a:srgbClr val="FFFF00"/>
                </a:solidFill>
              </a:rPr>
              <a:t>Provide a perspective on your current state solution versus how it will evolve to a future state</a:t>
            </a:r>
          </a:p>
          <a:p>
            <a:pPr algn="ctr"/>
            <a:r>
              <a:rPr lang="en-US" sz="1100" dirty="0">
                <a:solidFill>
                  <a:srgbClr val="FFFF00"/>
                </a:solidFill>
              </a:rPr>
              <a:t>You can use a simplified version of the Process and Data Flow visual</a:t>
            </a:r>
          </a:p>
        </p:txBody>
      </p:sp>
    </p:spTree>
    <p:extLst>
      <p:ext uri="{BB962C8B-B14F-4D97-AF65-F5344CB8AC3E}">
        <p14:creationId xmlns:p14="http://schemas.microsoft.com/office/powerpoint/2010/main" val="1429466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18">
          <a:extLst>
            <a:ext uri="{FF2B5EF4-FFF2-40B4-BE49-F238E27FC236}">
              <a16:creationId xmlns:a16="http://schemas.microsoft.com/office/drawing/2014/main" id="{4E4F717A-BF3A-A6AF-B139-76B2F7BA429D}"/>
            </a:ext>
          </a:extLst>
        </p:cNvPr>
        <p:cNvGrpSpPr/>
        <p:nvPr/>
      </p:nvGrpSpPr>
      <p:grpSpPr>
        <a:xfrm>
          <a:off x="0" y="0"/>
          <a:ext cx="0" cy="0"/>
          <a:chOff x="0" y="0"/>
          <a:chExt cx="0" cy="0"/>
        </a:xfrm>
      </p:grpSpPr>
      <p:sp>
        <p:nvSpPr>
          <p:cNvPr id="4" name="Google Shape;273;p4">
            <a:extLst>
              <a:ext uri="{FF2B5EF4-FFF2-40B4-BE49-F238E27FC236}">
                <a16:creationId xmlns:a16="http://schemas.microsoft.com/office/drawing/2014/main" id="{F67C2348-7839-FAEC-6343-9B2BD4DE8800}"/>
              </a:ext>
            </a:extLst>
          </p:cNvPr>
          <p:cNvSpPr txBox="1"/>
          <p:nvPr/>
        </p:nvSpPr>
        <p:spPr>
          <a:xfrm>
            <a:off x="1760904" y="178595"/>
            <a:ext cx="5551714" cy="507888"/>
          </a:xfrm>
          <a:prstGeom prst="rect">
            <a:avLst/>
          </a:prstGeom>
          <a:noFill/>
          <a:ln>
            <a:noFill/>
          </a:ln>
        </p:spPr>
        <p:txBody>
          <a:bodyPr spcFirstLastPara="1" wrap="square" lIns="121900" tIns="121900" rIns="121900" bIns="121900" anchor="t" anchorCtr="0">
            <a:noAutofit/>
          </a:bodyPr>
          <a:lstStyle/>
          <a:p>
            <a:pPr marL="0" marR="0" lvl="0" indent="0" algn="ctr" defTabSz="914400" rtl="0" eaLnBrk="1" fontAlgn="auto" latinLnBrk="0" hangingPunct="1">
              <a:lnSpc>
                <a:spcPct val="90000"/>
              </a:lnSpc>
              <a:spcBef>
                <a:spcPts val="0"/>
              </a:spcBef>
              <a:spcAft>
                <a:spcPts val="0"/>
              </a:spcAft>
              <a:buClr>
                <a:srgbClr val="000000"/>
              </a:buClr>
              <a:buSzPts val="4400"/>
              <a:buFont typeface="Algerian"/>
              <a:buNone/>
              <a:tabLst/>
              <a:defRPr/>
            </a:pPr>
            <a:r>
              <a:rPr kumimoji="0" lang="en-IN" sz="2000" i="0" u="none" strike="noStrike" kern="0" cap="none" spc="0" normalizeH="0" baseline="0" noProof="0" dirty="0">
                <a:ln>
                  <a:noFill/>
                </a:ln>
                <a:solidFill>
                  <a:srgbClr val="FBF9F1"/>
                </a:solidFill>
                <a:effectLst/>
                <a:uLnTx/>
                <a:uFillTx/>
                <a:latin typeface="Poppins"/>
                <a:cs typeface="Poppins"/>
                <a:sym typeface="Algerian"/>
              </a:rPr>
              <a:t>Rollout Roadmap</a:t>
            </a:r>
            <a:endParaRPr kumimoji="0" sz="2000" i="0" u="none" strike="noStrike" kern="0" cap="none" spc="0" normalizeH="0" baseline="0" noProof="0" dirty="0">
              <a:ln>
                <a:noFill/>
              </a:ln>
              <a:solidFill>
                <a:srgbClr val="FBF9F1"/>
              </a:solidFill>
              <a:effectLst/>
              <a:uLnTx/>
              <a:uFillTx/>
              <a:latin typeface="Poppins"/>
              <a:cs typeface="Poppins"/>
              <a:sym typeface="Arial"/>
            </a:endParaRPr>
          </a:p>
        </p:txBody>
      </p:sp>
      <p:sp>
        <p:nvSpPr>
          <p:cNvPr id="13" name="TextBox 12">
            <a:extLst>
              <a:ext uri="{FF2B5EF4-FFF2-40B4-BE49-F238E27FC236}">
                <a16:creationId xmlns:a16="http://schemas.microsoft.com/office/drawing/2014/main" id="{E5DBAC93-1CAF-3D12-BC74-1CBC577DA5E6}"/>
              </a:ext>
            </a:extLst>
          </p:cNvPr>
          <p:cNvSpPr txBox="1"/>
          <p:nvPr/>
        </p:nvSpPr>
        <p:spPr>
          <a:xfrm>
            <a:off x="1115755" y="1178772"/>
            <a:ext cx="7268828" cy="153888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solidFill>
                  <a:srgbClr val="FFFFFF"/>
                </a:solidFill>
              </a:rPr>
              <a:t>How will your </a:t>
            </a:r>
            <a:r>
              <a:rPr lang="en-US" sz="1600" b="1" dirty="0">
                <a:solidFill>
                  <a:srgbClr val="FFFFFF"/>
                </a:solidFill>
              </a:rPr>
              <a:t>Current State Solution </a:t>
            </a:r>
            <a:r>
              <a:rPr lang="en-US" sz="1600" dirty="0">
                <a:solidFill>
                  <a:srgbClr val="FFFFFF"/>
                </a:solidFill>
              </a:rPr>
              <a:t>evolve to a</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600" dirty="0">
              <a:solidFill>
                <a:srgbClr val="FFFFFF"/>
              </a:solidFil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solidFill>
                  <a:srgbClr val="FFFFFF"/>
                </a:solidFill>
              </a:rPr>
              <a:t>Future Powerful Solution</a:t>
            </a:r>
            <a:r>
              <a:rPr lang="en-US" sz="1600" dirty="0">
                <a:solidFill>
                  <a:srgbClr val="FFFFFF"/>
                </a:solidFil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dirty="0">
              <a:ln>
                <a:noFill/>
              </a:ln>
              <a:solidFill>
                <a:srgbClr val="FFFFFF"/>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solidFill>
                  <a:srgbClr val="FFFFFF"/>
                </a:solidFill>
              </a:rPr>
              <a:t>Provide a stagewise roadmap on the evolution highlighting additional features as they could be added and value they will add to the solution</a:t>
            </a:r>
            <a:endParaRPr kumimoji="0" lang="en-US" b="0" i="0" u="none" strike="noStrike" kern="0" cap="none" spc="0" normalizeH="0" baseline="0" noProof="0" dirty="0">
              <a:ln>
                <a:noFill/>
              </a:ln>
              <a:solidFill>
                <a:srgbClr val="FFFFFF"/>
              </a:solidFill>
              <a:effectLst/>
              <a:uLnTx/>
              <a:uFillTx/>
              <a:latin typeface="Arial"/>
              <a:cs typeface="Arial"/>
              <a:sym typeface="Arial"/>
            </a:endParaRPr>
          </a:p>
        </p:txBody>
      </p:sp>
      <p:sp>
        <p:nvSpPr>
          <p:cNvPr id="20" name="TextBox 19">
            <a:extLst>
              <a:ext uri="{FF2B5EF4-FFF2-40B4-BE49-F238E27FC236}">
                <a16:creationId xmlns:a16="http://schemas.microsoft.com/office/drawing/2014/main" id="{7593D2BE-CB7B-C647-FF62-2ECEA41AA48D}"/>
              </a:ext>
            </a:extLst>
          </p:cNvPr>
          <p:cNvSpPr txBox="1"/>
          <p:nvPr/>
        </p:nvSpPr>
        <p:spPr>
          <a:xfrm>
            <a:off x="1115755" y="4464740"/>
            <a:ext cx="684201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rgbClr val="FFFFFF"/>
                </a:solidFill>
                <a:effectLst/>
                <a:uLnTx/>
                <a:uFillTx/>
                <a:latin typeface="Arial"/>
                <a:cs typeface="Arial"/>
                <a:sym typeface="Arial"/>
              </a:rPr>
              <a:t>Note: A rollout roadmap sample is available in appendix.  You can use that version or a simpler depiction (your choice)</a:t>
            </a:r>
          </a:p>
        </p:txBody>
      </p:sp>
    </p:spTree>
    <p:extLst>
      <p:ext uri="{BB962C8B-B14F-4D97-AF65-F5344CB8AC3E}">
        <p14:creationId xmlns:p14="http://schemas.microsoft.com/office/powerpoint/2010/main" val="1948649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18">
          <a:extLst>
            <a:ext uri="{FF2B5EF4-FFF2-40B4-BE49-F238E27FC236}">
              <a16:creationId xmlns:a16="http://schemas.microsoft.com/office/drawing/2014/main" id="{4CC58EFF-2998-C457-8D94-9FD48C1B02A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A7726AE-654E-CF58-D04C-ED455AB3C7B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1064078"/>
            <a:ext cx="8429625" cy="4079421"/>
          </a:xfrm>
          <a:prstGeom prst="rect">
            <a:avLst/>
          </a:prstGeom>
        </p:spPr>
      </p:pic>
      <p:sp>
        <p:nvSpPr>
          <p:cNvPr id="6" name="Google Shape;179;p27">
            <a:extLst>
              <a:ext uri="{FF2B5EF4-FFF2-40B4-BE49-F238E27FC236}">
                <a16:creationId xmlns:a16="http://schemas.microsoft.com/office/drawing/2014/main" id="{94CEA849-B435-853E-9DE6-01D51AF55EB4}"/>
              </a:ext>
            </a:extLst>
          </p:cNvPr>
          <p:cNvSpPr txBox="1"/>
          <p:nvPr/>
        </p:nvSpPr>
        <p:spPr>
          <a:xfrm rot="-1716536">
            <a:off x="913971" y="2799699"/>
            <a:ext cx="6263410" cy="430943"/>
          </a:xfrm>
          <a:prstGeom prst="rect">
            <a:avLst/>
          </a:prstGeom>
          <a:solidFill>
            <a:srgbClr val="F2F2F2"/>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dirty="0">
                <a:solidFill>
                  <a:schemeClr val="dk1"/>
                </a:solidFill>
                <a:latin typeface="Calibri"/>
                <a:ea typeface="Calibri"/>
                <a:cs typeface="Calibri"/>
                <a:sym typeface="Calibri"/>
              </a:rPr>
              <a:t>SAMPLE for reference, please replace with your project details</a:t>
            </a:r>
            <a:endParaRPr sz="1600" b="1" dirty="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C495D657-3D10-6480-B325-0B2F2064E909}"/>
              </a:ext>
            </a:extLst>
          </p:cNvPr>
          <p:cNvSpPr txBox="1"/>
          <p:nvPr/>
        </p:nvSpPr>
        <p:spPr>
          <a:xfrm>
            <a:off x="1704813" y="255133"/>
            <a:ext cx="5734373" cy="369332"/>
          </a:xfrm>
          <a:prstGeom prst="rect">
            <a:avLst/>
          </a:prstGeom>
          <a:noFill/>
        </p:spPr>
        <p:txBody>
          <a:bodyPr wrap="square">
            <a:spAutoFit/>
          </a:bodyPr>
          <a:lstStyle/>
          <a:p>
            <a:pPr algn="ctr"/>
            <a:r>
              <a:rPr lang="en-US" sz="1800" b="0" i="0" dirty="0">
                <a:solidFill>
                  <a:schemeClr val="bg1"/>
                </a:solidFill>
                <a:effectLst/>
                <a:latin typeface="arial" panose="020B0604020202020204" pitchFamily="34" charset="0"/>
              </a:rPr>
              <a:t>Solution Inclusivity, Fairness and Explainability (1/2)</a:t>
            </a:r>
            <a:endParaRPr lang="en-US" sz="1800" dirty="0">
              <a:solidFill>
                <a:schemeClr val="bg1"/>
              </a:solidFill>
            </a:endParaRPr>
          </a:p>
        </p:txBody>
      </p:sp>
    </p:spTree>
    <p:extLst>
      <p:ext uri="{BB962C8B-B14F-4D97-AF65-F5344CB8AC3E}">
        <p14:creationId xmlns:p14="http://schemas.microsoft.com/office/powerpoint/2010/main" val="1068864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18">
          <a:extLst>
            <a:ext uri="{FF2B5EF4-FFF2-40B4-BE49-F238E27FC236}">
              <a16:creationId xmlns:a16="http://schemas.microsoft.com/office/drawing/2014/main" id="{E26B4BBE-2F74-94AD-2FE1-1287D6E7477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BA6B5AE-3054-3AF9-A03A-07525CA9623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1326455"/>
            <a:ext cx="9144000" cy="3817045"/>
          </a:xfrm>
          <a:prstGeom prst="rect">
            <a:avLst/>
          </a:prstGeom>
        </p:spPr>
      </p:pic>
      <p:sp>
        <p:nvSpPr>
          <p:cNvPr id="6" name="Google Shape;179;p27">
            <a:extLst>
              <a:ext uri="{FF2B5EF4-FFF2-40B4-BE49-F238E27FC236}">
                <a16:creationId xmlns:a16="http://schemas.microsoft.com/office/drawing/2014/main" id="{65C36986-C575-9AEE-969D-5DA6A2FF7871}"/>
              </a:ext>
            </a:extLst>
          </p:cNvPr>
          <p:cNvSpPr txBox="1"/>
          <p:nvPr/>
        </p:nvSpPr>
        <p:spPr>
          <a:xfrm rot="-1716536">
            <a:off x="913971" y="2799699"/>
            <a:ext cx="6263410" cy="430943"/>
          </a:xfrm>
          <a:prstGeom prst="rect">
            <a:avLst/>
          </a:prstGeom>
          <a:solidFill>
            <a:srgbClr val="F2F2F2"/>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dirty="0">
                <a:solidFill>
                  <a:schemeClr val="dk1"/>
                </a:solidFill>
                <a:latin typeface="Calibri"/>
                <a:ea typeface="Calibri"/>
                <a:cs typeface="Calibri"/>
                <a:sym typeface="Calibri"/>
              </a:rPr>
              <a:t>SAMPLE for reference, please replace with your project details</a:t>
            </a:r>
            <a:endParaRPr sz="1600" b="1" dirty="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40F5C449-ED4A-FFC2-6164-A73B7E936ACF}"/>
              </a:ext>
            </a:extLst>
          </p:cNvPr>
          <p:cNvSpPr txBox="1"/>
          <p:nvPr/>
        </p:nvSpPr>
        <p:spPr>
          <a:xfrm>
            <a:off x="1704813" y="255133"/>
            <a:ext cx="5734373" cy="369332"/>
          </a:xfrm>
          <a:prstGeom prst="rect">
            <a:avLst/>
          </a:prstGeom>
          <a:noFill/>
        </p:spPr>
        <p:txBody>
          <a:bodyPr wrap="square">
            <a:spAutoFit/>
          </a:bodyPr>
          <a:lstStyle/>
          <a:p>
            <a:pPr algn="ctr"/>
            <a:r>
              <a:rPr lang="en-US" sz="1800" b="0" i="0" dirty="0">
                <a:solidFill>
                  <a:schemeClr val="bg1"/>
                </a:solidFill>
                <a:effectLst/>
                <a:latin typeface="arial" panose="020B0604020202020204" pitchFamily="34" charset="0"/>
              </a:rPr>
              <a:t>Solution Inclusivity, Fairness and Explainability (2/2)</a:t>
            </a:r>
            <a:endParaRPr lang="en-US" sz="1800" dirty="0">
              <a:solidFill>
                <a:schemeClr val="bg1"/>
              </a:solidFill>
            </a:endParaRPr>
          </a:p>
        </p:txBody>
      </p:sp>
    </p:spTree>
    <p:extLst>
      <p:ext uri="{BB962C8B-B14F-4D97-AF65-F5344CB8AC3E}">
        <p14:creationId xmlns:p14="http://schemas.microsoft.com/office/powerpoint/2010/main" val="307459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18">
          <a:extLst>
            <a:ext uri="{FF2B5EF4-FFF2-40B4-BE49-F238E27FC236}">
              <a16:creationId xmlns:a16="http://schemas.microsoft.com/office/drawing/2014/main" id="{09DB42E7-9913-F3AC-1100-1202D368A0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52BC5D-B759-8FC8-BDD7-2D25EACF955D}"/>
              </a:ext>
            </a:extLst>
          </p:cNvPr>
          <p:cNvSpPr txBox="1"/>
          <p:nvPr/>
        </p:nvSpPr>
        <p:spPr>
          <a:xfrm>
            <a:off x="2734676" y="293913"/>
            <a:ext cx="367464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FFFFFF"/>
                </a:solidFill>
                <a:effectLst/>
                <a:uLnTx/>
                <a:uFillTx/>
                <a:latin typeface="Arial"/>
                <a:cs typeface="Arial"/>
                <a:sym typeface="Arial"/>
              </a:rPr>
              <a:t>Actual Solution Images/ Videos</a:t>
            </a:r>
          </a:p>
        </p:txBody>
      </p:sp>
      <p:sp>
        <p:nvSpPr>
          <p:cNvPr id="2" name="TextBox 1">
            <a:extLst>
              <a:ext uri="{FF2B5EF4-FFF2-40B4-BE49-F238E27FC236}">
                <a16:creationId xmlns:a16="http://schemas.microsoft.com/office/drawing/2014/main" id="{D214C7E1-4853-DCCC-9433-E1A9796BB555}"/>
              </a:ext>
            </a:extLst>
          </p:cNvPr>
          <p:cNvSpPr txBox="1"/>
          <p:nvPr/>
        </p:nvSpPr>
        <p:spPr>
          <a:xfrm>
            <a:off x="2125980" y="2057690"/>
            <a:ext cx="5120640" cy="523220"/>
          </a:xfrm>
          <a:prstGeom prst="rect">
            <a:avLst/>
          </a:prstGeom>
          <a:noFill/>
        </p:spPr>
        <p:txBody>
          <a:bodyPr wrap="square" rtlCol="0">
            <a:spAutoFit/>
          </a:bodyPr>
          <a:lstStyle/>
          <a:p>
            <a:r>
              <a:rPr lang="en-US" dirty="0">
                <a:solidFill>
                  <a:schemeClr val="bg1"/>
                </a:solidFill>
              </a:rPr>
              <a:t>Add the images or the video of your application to show how it  works :- </a:t>
            </a:r>
            <a:r>
              <a:rPr lang="en-US" b="1" dirty="0">
                <a:solidFill>
                  <a:schemeClr val="bg1"/>
                </a:solidFill>
              </a:rPr>
              <a:t>Link only</a:t>
            </a:r>
            <a:endParaRPr lang="en-US" dirty="0">
              <a:solidFill>
                <a:schemeClr val="bg1"/>
              </a:solidFill>
            </a:endParaRPr>
          </a:p>
        </p:txBody>
      </p:sp>
    </p:spTree>
    <p:extLst>
      <p:ext uri="{BB962C8B-B14F-4D97-AF65-F5344CB8AC3E}">
        <p14:creationId xmlns:p14="http://schemas.microsoft.com/office/powerpoint/2010/main" val="3545906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422"/>
        <p:cNvGrpSpPr/>
        <p:nvPr/>
      </p:nvGrpSpPr>
      <p:grpSpPr>
        <a:xfrm>
          <a:off x="0" y="0"/>
          <a:ext cx="0" cy="0"/>
          <a:chOff x="0" y="0"/>
          <a:chExt cx="0" cy="0"/>
        </a:xfrm>
      </p:grpSpPr>
      <p:sp>
        <p:nvSpPr>
          <p:cNvPr id="423" name="Google Shape;423;p38"/>
          <p:cNvSpPr/>
          <p:nvPr/>
        </p:nvSpPr>
        <p:spPr>
          <a:xfrm rot="2100837" flipH="1">
            <a:off x="4491336" y="214059"/>
            <a:ext cx="4155031" cy="4390727"/>
          </a:xfrm>
          <a:custGeom>
            <a:avLst/>
            <a:gdLst/>
            <a:ahLst/>
            <a:cxnLst/>
            <a:rect l="l" t="t" r="r" b="b"/>
            <a:pathLst>
              <a:path w="8310061" h="8781453" extrusionOk="0">
                <a:moveTo>
                  <a:pt x="8310061" y="0"/>
                </a:moveTo>
                <a:lnTo>
                  <a:pt x="0" y="0"/>
                </a:lnTo>
                <a:lnTo>
                  <a:pt x="0" y="8781453"/>
                </a:lnTo>
                <a:lnTo>
                  <a:pt x="8310061" y="8781453"/>
                </a:lnTo>
                <a:lnTo>
                  <a:pt x="8310061" y="0"/>
                </a:lnTo>
                <a:close/>
              </a:path>
            </a:pathLst>
          </a:custGeom>
          <a:blipFill rotWithShape="1">
            <a:blip r:embed="rId3" cstate="screen">
              <a:alphaModFix/>
              <a:extLst>
                <a:ext uri="{28A0092B-C50C-407E-A947-70E740481C1C}">
                  <a14:useLocalDpi xmlns:a14="http://schemas.microsoft.com/office/drawing/2010/main"/>
                </a:ext>
              </a:extLst>
            </a:blip>
            <a:stretch>
              <a:fillRect/>
            </a:stretch>
          </a:blipFill>
          <a:ln>
            <a:noFill/>
          </a:ln>
        </p:spPr>
        <p:txBody>
          <a:bodyPr spcFirstLastPara="1" wrap="square" lIns="45725" tIns="22850" rIns="45725" bIns="22850" anchor="t" anchorCtr="0">
            <a:noAutofit/>
          </a:bodyPr>
          <a:lstStyle/>
          <a:p>
            <a:pPr marL="0" marR="0" lvl="0" indent="0" algn="l" rtl="0">
              <a:spcBef>
                <a:spcPts val="0"/>
              </a:spcBef>
              <a:spcAft>
                <a:spcPts val="0"/>
              </a:spcAft>
              <a:buNone/>
            </a:pPr>
            <a:endParaRPr sz="900">
              <a:solidFill>
                <a:schemeClr val="dk1"/>
              </a:solidFill>
              <a:latin typeface="Calibri"/>
              <a:ea typeface="Calibri"/>
              <a:cs typeface="Calibri"/>
              <a:sym typeface="Calibri"/>
            </a:endParaRPr>
          </a:p>
        </p:txBody>
      </p:sp>
      <p:sp>
        <p:nvSpPr>
          <p:cNvPr id="424" name="Google Shape;424;p38"/>
          <p:cNvSpPr txBox="1"/>
          <p:nvPr/>
        </p:nvSpPr>
        <p:spPr>
          <a:xfrm>
            <a:off x="464333" y="1606763"/>
            <a:ext cx="5705739" cy="1101780"/>
          </a:xfrm>
          <a:prstGeom prst="rect">
            <a:avLst/>
          </a:prstGeom>
          <a:noFill/>
          <a:ln>
            <a:noFill/>
          </a:ln>
        </p:spPr>
        <p:txBody>
          <a:bodyPr spcFirstLastPara="1" wrap="square" lIns="0" tIns="0" rIns="0" bIns="0" anchor="t" anchorCtr="0">
            <a:spAutoFit/>
          </a:bodyPr>
          <a:lstStyle/>
          <a:p>
            <a:pPr marL="0" marR="0" lvl="0" indent="0" algn="l" rtl="0">
              <a:lnSpc>
                <a:spcPct val="110001"/>
              </a:lnSpc>
              <a:spcBef>
                <a:spcPts val="0"/>
              </a:spcBef>
              <a:spcAft>
                <a:spcPts val="0"/>
              </a:spcAft>
              <a:buNone/>
            </a:pPr>
            <a:r>
              <a:rPr lang="en-GB" sz="7300" b="1">
                <a:solidFill>
                  <a:srgbClr val="FBF9F1"/>
                </a:solidFill>
                <a:latin typeface="Poppins"/>
                <a:ea typeface="Poppins"/>
                <a:cs typeface="Poppins"/>
                <a:sym typeface="Poppins"/>
              </a:rPr>
              <a:t>THANK YOU </a:t>
            </a:r>
            <a:endParaRPr sz="700"/>
          </a:p>
        </p:txBody>
      </p:sp>
      <p:sp>
        <p:nvSpPr>
          <p:cNvPr id="425" name="Google Shape;425;p38"/>
          <p:cNvSpPr txBox="1"/>
          <p:nvPr/>
        </p:nvSpPr>
        <p:spPr>
          <a:xfrm>
            <a:off x="464333" y="2708543"/>
            <a:ext cx="4107667" cy="947952"/>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GB" sz="2800" dirty="0">
                <a:solidFill>
                  <a:srgbClr val="FBF9F1"/>
                </a:solidFill>
                <a:latin typeface="Poppins"/>
                <a:ea typeface="Poppins"/>
                <a:cs typeface="Poppins"/>
                <a:sym typeface="Poppins"/>
              </a:rPr>
              <a:t>And all the best for your solution judging</a:t>
            </a:r>
            <a:endParaRPr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18">
          <a:extLst>
            <a:ext uri="{FF2B5EF4-FFF2-40B4-BE49-F238E27FC236}">
              <a16:creationId xmlns:a16="http://schemas.microsoft.com/office/drawing/2014/main" id="{4649D58B-0338-0E33-5EFE-ED843F854B9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10B6E33-BDEE-796B-CE12-C95800A58C80}"/>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1153486"/>
            <a:ext cx="9143999" cy="3990013"/>
          </a:xfrm>
          <a:prstGeom prst="rect">
            <a:avLst/>
          </a:prstGeom>
        </p:spPr>
      </p:pic>
      <p:sp>
        <p:nvSpPr>
          <p:cNvPr id="6" name="Google Shape;179;p27">
            <a:extLst>
              <a:ext uri="{FF2B5EF4-FFF2-40B4-BE49-F238E27FC236}">
                <a16:creationId xmlns:a16="http://schemas.microsoft.com/office/drawing/2014/main" id="{CE5C259A-4C6C-01C6-C797-A586077C63C1}"/>
              </a:ext>
            </a:extLst>
          </p:cNvPr>
          <p:cNvSpPr txBox="1"/>
          <p:nvPr/>
        </p:nvSpPr>
        <p:spPr>
          <a:xfrm rot="-1716536">
            <a:off x="1207885" y="2562936"/>
            <a:ext cx="6263410" cy="430943"/>
          </a:xfrm>
          <a:prstGeom prst="rect">
            <a:avLst/>
          </a:prstGeom>
          <a:solidFill>
            <a:srgbClr val="F2F2F2"/>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600" b="1" dirty="0">
                <a:solidFill>
                  <a:schemeClr val="dk1"/>
                </a:solidFill>
                <a:latin typeface="Calibri"/>
                <a:ea typeface="Calibri"/>
                <a:cs typeface="Calibri"/>
                <a:sym typeface="Calibri"/>
              </a:rPr>
              <a:t>SAMPLE for reference, please replace with your project details</a:t>
            </a:r>
            <a:endParaRPr sz="1600" b="1" dirty="0">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F40ABC45-0DD7-DFFF-6FE6-59A8325B8D70}"/>
              </a:ext>
            </a:extLst>
          </p:cNvPr>
          <p:cNvSpPr txBox="1"/>
          <p:nvPr/>
        </p:nvSpPr>
        <p:spPr>
          <a:xfrm>
            <a:off x="2793568" y="105539"/>
            <a:ext cx="3556861" cy="369332"/>
          </a:xfrm>
          <a:prstGeom prst="rect">
            <a:avLst/>
          </a:prstGeom>
          <a:noFill/>
        </p:spPr>
        <p:txBody>
          <a:bodyPr wrap="square" rtlCol="0">
            <a:spAutoFit/>
          </a:bodyPr>
          <a:lstStyle/>
          <a:p>
            <a:pPr algn="ctr"/>
            <a:r>
              <a:rPr lang="en-US" sz="1800" dirty="0">
                <a:solidFill>
                  <a:schemeClr val="bg1"/>
                </a:solidFill>
              </a:rPr>
              <a:t>Rollout Roadmap – A Sample</a:t>
            </a:r>
          </a:p>
        </p:txBody>
      </p:sp>
    </p:spTree>
    <p:extLst>
      <p:ext uri="{BB962C8B-B14F-4D97-AF65-F5344CB8AC3E}">
        <p14:creationId xmlns:p14="http://schemas.microsoft.com/office/powerpoint/2010/main" val="51584533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216</TotalTime>
  <Words>761</Words>
  <Application>Microsoft Office PowerPoint</Application>
  <PresentationFormat>On-screen Show (16:9)</PresentationFormat>
  <Paragraphs>91</Paragraphs>
  <Slides>15</Slides>
  <Notes>15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Algerian</vt:lpstr>
      <vt:lpstr>arial</vt:lpstr>
      <vt:lpstr>Calibri</vt:lpstr>
      <vt:lpstr>Lato</vt:lpstr>
      <vt:lpstr>Poppins</vt:lpstr>
      <vt:lpstr>arial</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Sanjay Kumar</dc:creator>
  <cp:lastModifiedBy>Sanjay Kumar</cp:lastModifiedBy>
  <cp:revision>11</cp:revision>
  <dcterms:modified xsi:type="dcterms:W3CDTF">2026-05-03T07:33:40Z</dcterms:modified>
</cp:coreProperties>
</file>